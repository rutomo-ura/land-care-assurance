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Handover of LandCare Assurance v1.0: what it is, why it exists, how to keep building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trigger was a completion rate nobody could reproduce, on an assignment universe with no ownership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bands: nightly ingestion, published application, approved evidence. Live ArcGIS is authoritative at page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BI is the authoritative report; NetSuite is the upstream ledger; the workbook holds contract expectations. The native finance cards are still a 4 August snapshot.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prompt has four parts: context calling, the goal and metric contract, tool calls the agent must run, and repo-specific snippets. Paste them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app.css for the existing product, executive-bi.css for anything new. Tokens over components; page order is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an intake form and an export. Three stages, each with an acceptance test. Everything stays on ArcGIS.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Daily check, safe change path, drift guards, and the five open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0334F">
                  <a:alpha val="100000"/>
                </a:srgbClr>
              </a:gs>
              <a:gs pos="100000">
                <a:srgbClr val="0098D3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1047750" y="914400"/>
            <a:ext cx="609600" cy="609600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23950" y="9906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47850" y="1076325"/>
            <a:ext cx="87821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REDEVELOPMENT AUTHORITY OF PITTSBURGH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1047750" y="3758357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FE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 PROJECT HANDOVER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47750" y="4286994"/>
            <a:ext cx="17811750" cy="1083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416"/>
              </a:lnSpc>
              <a:buNone/>
            </a:pPr>
            <a:r>
              <a:rPr lang="en-US" sz="8400" b="1" spc="-29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LandCare Assurance</a:t>
            </a:r>
            <a:endParaRPr lang="en-US" sz="8400" dirty="0"/>
          </a:p>
        </p:txBody>
      </p:sp>
      <p:sp>
        <p:nvSpPr>
          <p:cNvPr id="8" name="Text 5"/>
          <p:cNvSpPr/>
          <p:nvPr/>
        </p:nvSpPr>
        <p:spPr>
          <a:xfrm>
            <a:off x="1047750" y="5599137"/>
            <a:ext cx="11772900" cy="1015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931"/>
              </a:lnSpc>
              <a:buNone/>
            </a:pPr>
            <a:r>
              <a:rPr lang="en-US" sz="2850" dirty="0">
                <a:solidFill>
                  <a:srgbClr val="E3F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service period, which assigned parcels were serviced, by whom, and with what evidence.</a:t>
            </a:r>
            <a:endParaRPr lang="en-US" sz="2850" dirty="0"/>
          </a:p>
        </p:txBody>
      </p:sp>
      <p:sp>
        <p:nvSpPr>
          <p:cNvPr id="9" name="Shape 6"/>
          <p:cNvSpPr/>
          <p:nvPr/>
        </p:nvSpPr>
        <p:spPr>
          <a:xfrm>
            <a:off x="1047750" y="8810625"/>
            <a:ext cx="16192500" cy="9525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047750" y="9086850"/>
            <a:ext cx="346731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FEE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ura-gis/land-care-assurance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4809455" y="9086850"/>
            <a:ext cx="37696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FEE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/monitoring/ · /kpi/ · /contractor/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8846046" y="9086850"/>
            <a:ext cx="401591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FEE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rutomo@ura.org (Rizaldy Utomo)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7250" y="590550"/>
            <a:ext cx="182308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PROBLEM CONTEXT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857250" y="923925"/>
            <a:ext cx="18230850" cy="60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299"/>
              </a:lnSpc>
              <a:buNone/>
            </a:pPr>
            <a:r>
              <a:rPr lang="en-US" sz="4350" b="1" spc="-130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Compliance and Monitoring was lagging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857250" y="1715988"/>
            <a:ext cx="5397475" cy="2326630"/>
          </a:xfrm>
          <a:prstGeom prst="roundRect">
            <a:avLst>
              <a:gd name="adj" fmla="val 7369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5375" y="1935063"/>
            <a:ext cx="541334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TRIGGER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5375" y="2263676"/>
            <a:ext cx="4921225" cy="823913"/>
          </a:xfrm>
          <a:prstGeom prst="roundRect">
            <a:avLst>
              <a:gd name="adj" fmla="val 13873"/>
            </a:avLst>
          </a:prstGeom>
          <a:solidFill>
            <a:srgbClr val="FDF2EC"/>
          </a:solidFill>
          <a:ln w="9525">
            <a:solidFill>
              <a:srgbClr val="F3D6C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2644676"/>
            <a:ext cx="135937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8A4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429720" y="2425601"/>
            <a:ext cx="152554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~11.7%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095375" y="3201888"/>
            <a:ext cx="5068862" cy="659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691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Blends Active and Request Only </a:t>
            </a:r>
            <a:pPr algn="l" indent="0" marL="0">
              <a:lnSpc>
                <a:spcPct val="118691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parcels, with no stated definition.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45225" y="1715988"/>
            <a:ext cx="5397475" cy="2326630"/>
          </a:xfrm>
          <a:prstGeom prst="roundRect">
            <a:avLst>
              <a:gd name="adj" fmla="val 7369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83350" y="1935063"/>
            <a:ext cx="541334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83350" y="2263676"/>
            <a:ext cx="4921225" cy="823913"/>
          </a:xfrm>
          <a:prstGeom prst="roundRect">
            <a:avLst>
              <a:gd name="adj" fmla="val 13873"/>
            </a:avLst>
          </a:prstGeom>
          <a:gradFill rotWithShape="1">
            <a:gsLst>
              <a:gs pos="0">
                <a:srgbClr val="00334F">
                  <a:alpha val="100000"/>
                </a:srgbClr>
              </a:gs>
              <a:gs pos="100000">
                <a:srgbClr val="0098D3">
                  <a:alpha val="100000"/>
                </a:srgbClr>
              </a:gs>
            </a:gsLst>
            <a:lin ang="2700000" scaled="0"/>
          </a:gradFill>
          <a:ln w="9525">
            <a:solidFill>
              <a:srgbClr val="00334F">
                <a:alpha val="2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83375" y="2644676"/>
            <a:ext cx="123795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373767" y="2425601"/>
            <a:ext cx="110698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1,127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6683350" y="3201888"/>
            <a:ext cx="5068862" cy="659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691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tag filter with </a:t>
            </a:r>
            <a:pPr algn="l" indent="0" marL="0">
              <a:lnSpc>
                <a:spcPct val="118691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ownership check </a:t>
            </a:r>
            <a:pPr algn="l" indent="0" marL="0">
              <a:lnSpc>
                <a:spcPct val="118691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sold parcels stayed in the denominator.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033200" y="1715988"/>
            <a:ext cx="5397550" cy="2326630"/>
          </a:xfrm>
          <a:prstGeom prst="roundRect">
            <a:avLst>
              <a:gd name="adj" fmla="val 7369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71325" y="1935063"/>
            <a:ext cx="541343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STAKE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2271325" y="2263676"/>
            <a:ext cx="4921300" cy="823913"/>
          </a:xfrm>
          <a:prstGeom prst="roundRect">
            <a:avLst>
              <a:gd name="adj" fmla="val 13873"/>
            </a:avLst>
          </a:prstGeom>
          <a:solidFill>
            <a:srgbClr val="EEF6EE"/>
          </a:solidFill>
          <a:ln w="9525">
            <a:solidFill>
              <a:srgbClr val="CFE3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471350" y="2644676"/>
            <a:ext cx="191484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SPEND</a:t>
            </a:r>
            <a:endParaRPr lang="en-US" sz="1575" dirty="0"/>
          </a:p>
        </p:txBody>
      </p:sp>
      <p:sp>
        <p:nvSpPr>
          <p:cNvPr id="20" name="Text 18"/>
          <p:cNvSpPr/>
          <p:nvPr/>
        </p:nvSpPr>
        <p:spPr>
          <a:xfrm>
            <a:off x="15864483" y="2425601"/>
            <a:ext cx="1204317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$775k</a:t>
            </a:r>
            <a:endParaRPr lang="en-US" sz="3450" dirty="0"/>
          </a:p>
        </p:txBody>
      </p:sp>
      <p:sp>
        <p:nvSpPr>
          <p:cNvPr id="21" name="Text 19"/>
          <p:cNvSpPr/>
          <p:nvPr/>
        </p:nvSpPr>
        <p:spPr>
          <a:xfrm>
            <a:off x="12271325" y="3201888"/>
            <a:ext cx="5068939" cy="659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691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judged against evidence that </a:t>
            </a:r>
            <a:pPr algn="l" indent="0" marL="0">
              <a:lnSpc>
                <a:spcPct val="118691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not be traced to a parcel </a:t>
            </a:r>
            <a:pPr algn="l" indent="0" marL="0">
              <a:lnSpc>
                <a:spcPct val="118691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57250" y="4271218"/>
            <a:ext cx="8581504" cy="5425232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857250" y="9686925"/>
            <a:ext cx="8581504" cy="9525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24" name="Shape 22"/>
          <p:cNvSpPr/>
          <p:nvPr/>
        </p:nvSpPr>
        <p:spPr>
          <a:xfrm>
            <a:off x="857250" y="4271218"/>
            <a:ext cx="8581504" cy="9525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25" name="Shape 23"/>
          <p:cNvSpPr/>
          <p:nvPr/>
        </p:nvSpPr>
        <p:spPr>
          <a:xfrm>
            <a:off x="857250" y="4271218"/>
            <a:ext cx="38100" cy="5425232"/>
          </a:xfrm>
          <a:prstGeom prst="rect">
            <a:avLst/>
          </a:prstGeom>
          <a:solidFill>
            <a:srgbClr val="00334F"/>
          </a:solidFill>
          <a:ln/>
        </p:spPr>
      </p:sp>
      <p:sp>
        <p:nvSpPr>
          <p:cNvPr id="26" name="Shape 24"/>
          <p:cNvSpPr/>
          <p:nvPr/>
        </p:nvSpPr>
        <p:spPr>
          <a:xfrm>
            <a:off x="9429229" y="4271218"/>
            <a:ext cx="9525" cy="5425232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27" name="Text 25"/>
          <p:cNvSpPr/>
          <p:nvPr/>
        </p:nvSpPr>
        <p:spPr>
          <a:xfrm>
            <a:off x="1181100" y="4528393"/>
            <a:ext cx="875861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 BUILT IT THIS WAY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81100" y="4899868"/>
            <a:ext cx="820125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GIS control: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compliance, Regrid's interface, field capacity.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Inside: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query, the schemas, the metric definition, the published app.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181100" y="6366718"/>
            <a:ext cx="875861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map gives leadership something to act on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a percentage cannot.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629254" y="4271218"/>
            <a:ext cx="7801496" cy="5425232"/>
          </a:xfrm>
          <a:prstGeom prst="roundRect">
            <a:avLst>
              <a:gd name="adj" fmla="val 3160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24529" y="4528393"/>
            <a:ext cx="793204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V1.0 DELIVERS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9924529" y="4985593"/>
            <a:ext cx="123825" cy="123825"/>
          </a:xfrm>
          <a:prstGeom prst="ellipse">
            <a:avLst/>
          </a:prstGeom>
          <a:solidFill>
            <a:srgbClr val="0098D3"/>
          </a:solidFill>
          <a:ln/>
        </p:spPr>
      </p:sp>
      <p:sp>
        <p:nvSpPr>
          <p:cNvPr id="33" name="Text 31"/>
          <p:cNvSpPr/>
          <p:nvPr/>
        </p:nvSpPr>
        <p:spPr>
          <a:xfrm>
            <a:off x="10181704" y="4899868"/>
            <a:ext cx="6933076" cy="3398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00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Monitor — evidence displayed at the assignment polygon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924529" y="5401642"/>
            <a:ext cx="123825" cy="123825"/>
          </a:xfrm>
          <a:prstGeom prst="ellipse">
            <a:avLst/>
          </a:prstGeom>
          <a:solidFill>
            <a:srgbClr val="006C9F"/>
          </a:solidFill>
          <a:ln/>
        </p:spPr>
      </p:sp>
      <p:sp>
        <p:nvSpPr>
          <p:cNvPr id="35" name="Text 33"/>
          <p:cNvSpPr/>
          <p:nvPr/>
        </p:nvSpPr>
        <p:spPr>
          <a:xfrm>
            <a:off x="10181704" y="5315917"/>
            <a:ext cx="7162384" cy="641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00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Dashboard — completion, budget, contractor exposure by period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924529" y="6119440"/>
            <a:ext cx="123825" cy="123825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7" name="Text 35"/>
          <p:cNvSpPr/>
          <p:nvPr/>
        </p:nvSpPr>
        <p:spPr>
          <a:xfrm>
            <a:off x="10181704" y="6033715"/>
            <a:ext cx="7162384" cy="641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00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portal — pick a parcel on the map or list, submit prefilled evidence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924529" y="6837238"/>
            <a:ext cx="123825" cy="123825"/>
          </a:xfrm>
          <a:prstGeom prst="ellipse">
            <a:avLst/>
          </a:prstGeom>
          <a:solidFill>
            <a:srgbClr val="F0C24B"/>
          </a:solidFill>
          <a:ln/>
        </p:spPr>
      </p:sp>
      <p:sp>
        <p:nvSpPr>
          <p:cNvPr id="39" name="Text 37"/>
          <p:cNvSpPr/>
          <p:nvPr/>
        </p:nvSpPr>
        <p:spPr>
          <a:xfrm>
            <a:off x="10181704" y="6751513"/>
            <a:ext cx="7162384" cy="641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00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stated metric — period, denominator, source, and freshness on every number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28650"/>
            <a:ext cx="1174290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SYSTEM ARCHITECTURE AND DATA FLOW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62000" y="942975"/>
            <a:ext cx="11742904" cy="582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nightly job, everything else live at page load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4423657" y="869826"/>
            <a:ext cx="3102343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Period: the 15th of one month through the 14th of the next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1734666"/>
            <a:ext cx="16764000" cy="6123756"/>
          </a:xfrm>
          <a:prstGeom prst="roundRect">
            <a:avLst>
              <a:gd name="adj" fmla="val 2800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-29733" r="-29733" t="0" b="0"/>
          <a:stretch/>
        </p:blipFill>
        <p:spPr>
          <a:xfrm>
            <a:off x="981075" y="1915641"/>
            <a:ext cx="16325850" cy="57618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2000" y="8106073"/>
            <a:ext cx="5460950" cy="1552277"/>
          </a:xfrm>
          <a:prstGeom prst="roundRect">
            <a:avLst>
              <a:gd name="adj" fmla="val 9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0125" y="8287048"/>
            <a:ext cx="548317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spc="114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425" dirty="0"/>
          </a:p>
        </p:txBody>
      </p:sp>
      <p:sp>
        <p:nvSpPr>
          <p:cNvPr id="9" name="Text 6"/>
          <p:cNvSpPr/>
          <p:nvPr/>
        </p:nvSpPr>
        <p:spPr>
          <a:xfrm>
            <a:off x="1000125" y="8558510"/>
            <a:ext cx="5134241" cy="956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and data operations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ingestion and store. </a:t>
            </a:r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and dashboard owner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publish and application.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13450" y="8106073"/>
            <a:ext cx="5461025" cy="1552277"/>
          </a:xfrm>
          <a:prstGeom prst="roundRect">
            <a:avLst>
              <a:gd name="adj" fmla="val 9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51575" y="8287048"/>
            <a:ext cx="5483252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spc="114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BOUNDARY</a:t>
            </a:r>
            <a:endParaRPr lang="en-US" sz="1425" dirty="0"/>
          </a:p>
        </p:txBody>
      </p:sp>
      <p:sp>
        <p:nvSpPr>
          <p:cNvPr id="12" name="Text 9"/>
          <p:cNvSpPr/>
          <p:nvPr/>
        </p:nvSpPr>
        <p:spPr>
          <a:xfrm>
            <a:off x="6651575" y="8558510"/>
            <a:ext cx="5134318" cy="956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survey-layer.js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assignment-layer.js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 every ArcGIS field rename. </a:t>
            </a:r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live nowhere else.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2064975" y="8106073"/>
            <a:ext cx="5460950" cy="1552277"/>
          </a:xfrm>
          <a:prstGeom prst="roundRect">
            <a:avLst>
              <a:gd name="adj" fmla="val 9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03100" y="8287048"/>
            <a:ext cx="548317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spc="114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</a:t>
            </a:r>
            <a:endParaRPr lang="en-US" sz="1425" dirty="0"/>
          </a:p>
        </p:txBody>
      </p:sp>
      <p:sp>
        <p:nvSpPr>
          <p:cNvPr id="15" name="Text 12"/>
          <p:cNvSpPr/>
          <p:nvPr/>
        </p:nvSpPr>
        <p:spPr>
          <a:xfrm>
            <a:off x="12303100" y="8558510"/>
            <a:ext cx="5134241" cy="956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4:00 AM upstream ran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Map and KPI agree on the period count · Power BI embed loads · Pages green after code changes.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90550"/>
            <a:ext cx="927422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FINANCE GOVERNANCE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62000" y="904875"/>
            <a:ext cx="9274225" cy="582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reports it, NetSuite records it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300100" y="593601"/>
            <a:ext cx="4225900" cy="855315"/>
          </a:xfrm>
          <a:prstGeom prst="roundRect">
            <a:avLst>
              <a:gd name="adj" fmla="val 17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92398" y="736476"/>
            <a:ext cx="3914527" cy="607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0741"/>
              </a:lnSpc>
              <a:buNone/>
            </a:pPr>
            <a:r>
              <a:rPr lang="en-US" sz="1725" b="1" dirty="0">
                <a:solidFill>
                  <a:srgbClr val="35566B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KPI dashboard · Land Care Budget tab URA sign-in required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762000" y="1658466"/>
            <a:ext cx="5460950" cy="2794397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1858491"/>
            <a:ext cx="548317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0125" y="2168054"/>
            <a:ext cx="5483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652"/>
              </a:lnSpc>
              <a:buNone/>
            </a:pPr>
            <a:r>
              <a:rPr lang="en-US" sz="2250" b="1" spc="-45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reporting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000125" y="2577629"/>
            <a:ext cx="5134241" cy="12632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Care Budget and Parcel Area are authenticated embeds, so </a:t>
            </a:r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viewer sees the report through their own permissions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numbers cannot drift from Finance.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0125" y="3898032"/>
            <a:ext cx="4984700" cy="9525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" name="Text 9"/>
          <p:cNvSpPr/>
          <p:nvPr/>
        </p:nvSpPr>
        <p:spPr>
          <a:xfrm>
            <a:off x="1000125" y="4002807"/>
            <a:ext cx="5134241" cy="28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Care Budget report · URA Finance workspace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6413450" y="1658466"/>
            <a:ext cx="5461025" cy="2794397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89675" y="1896591"/>
            <a:ext cx="539943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NETSUITE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9675" y="2206154"/>
            <a:ext cx="539943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652"/>
              </a:lnSpc>
              <a:buNone/>
            </a:pPr>
            <a:r>
              <a:rPr lang="en-US" sz="2250" b="1" spc="-45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accounting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689675" y="2615729"/>
            <a:ext cx="5055832" cy="956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search 1618 on account 66220 Lawn Maintenance.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importer in the repo is supervised reconciliation, not a feed.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89675" y="3859932"/>
            <a:ext cx="4908575" cy="9525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7" name="Text 15"/>
          <p:cNvSpPr/>
          <p:nvPr/>
        </p:nvSpPr>
        <p:spPr>
          <a:xfrm>
            <a:off x="6689675" y="3964707"/>
            <a:ext cx="5055832" cy="28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Imported on request, reconciled by hand</a:t>
            </a:r>
            <a:endParaRPr lang="en-US" sz="1575" dirty="0"/>
          </a:p>
        </p:txBody>
      </p:sp>
      <p:sp>
        <p:nvSpPr>
          <p:cNvPr id="18" name="Shape 16"/>
          <p:cNvSpPr/>
          <p:nvPr/>
        </p:nvSpPr>
        <p:spPr>
          <a:xfrm>
            <a:off x="12064975" y="1658466"/>
            <a:ext cx="5460950" cy="2794397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341200" y="1896591"/>
            <a:ext cx="53993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1200" y="2206154"/>
            <a:ext cx="539935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652"/>
              </a:lnSpc>
              <a:buNone/>
            </a:pPr>
            <a:r>
              <a:rPr lang="en-US" sz="2250" b="1" spc="-45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expectations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341200" y="2615729"/>
            <a:ext cx="5055755" cy="650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945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Term, parcels, and forecast. </a:t>
            </a:r>
            <a:pPr algn="l" indent="0" marL="0">
              <a:lnSpc>
                <a:spcPct val="116945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contracted shape of the work, held outside both systems.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2341200" y="3859932"/>
            <a:ext cx="4908500" cy="9525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23" name="Text 21"/>
          <p:cNvSpPr/>
          <p:nvPr/>
        </p:nvSpPr>
        <p:spPr>
          <a:xfrm>
            <a:off x="12341200" y="3964707"/>
            <a:ext cx="5055755" cy="28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by the contract manager, not in the repo</a:t>
            </a:r>
            <a:endParaRPr lang="en-US" sz="1575" dirty="0"/>
          </a:p>
        </p:txBody>
      </p:sp>
      <p:sp>
        <p:nvSpPr>
          <p:cNvPr id="24" name="Shape 22"/>
          <p:cNvSpPr/>
          <p:nvPr/>
        </p:nvSpPr>
        <p:spPr>
          <a:xfrm>
            <a:off x="762000" y="4662413"/>
            <a:ext cx="9944100" cy="5034037"/>
          </a:xfrm>
          <a:prstGeom prst="roundRect">
            <a:avLst>
              <a:gd name="adj" fmla="val 3406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rcRect l="-19310" r="-19310" t="0" b="0"/>
          <a:stretch/>
        </p:blipFill>
        <p:spPr>
          <a:xfrm>
            <a:off x="866775" y="4767188"/>
            <a:ext cx="9734550" cy="4824487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10896600" y="4662413"/>
            <a:ext cx="6629400" cy="1840409"/>
          </a:xfrm>
          <a:prstGeom prst="roundRect">
            <a:avLst>
              <a:gd name="adj" fmla="val 9316"/>
            </a:avLst>
          </a:prstGeom>
          <a:solidFill>
            <a:srgbClr val="FDF2EC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96600" y="6493297"/>
            <a:ext cx="6629400" cy="9525"/>
          </a:xfrm>
          <a:prstGeom prst="rect">
            <a:avLst/>
          </a:prstGeom>
          <a:solidFill>
            <a:srgbClr val="F3D6C6"/>
          </a:solidFill>
          <a:ln/>
        </p:spPr>
      </p:sp>
      <p:sp>
        <p:nvSpPr>
          <p:cNvPr id="28" name="Shape 25"/>
          <p:cNvSpPr/>
          <p:nvPr/>
        </p:nvSpPr>
        <p:spPr>
          <a:xfrm>
            <a:off x="10896600" y="4662413"/>
            <a:ext cx="6629400" cy="9525"/>
          </a:xfrm>
          <a:prstGeom prst="rect">
            <a:avLst/>
          </a:prstGeom>
          <a:solidFill>
            <a:srgbClr val="F3D6C6"/>
          </a:solidFill>
          <a:ln/>
        </p:spPr>
      </p:sp>
      <p:sp>
        <p:nvSpPr>
          <p:cNvPr id="29" name="Shape 26"/>
          <p:cNvSpPr/>
          <p:nvPr/>
        </p:nvSpPr>
        <p:spPr>
          <a:xfrm>
            <a:off x="10896600" y="4662413"/>
            <a:ext cx="38100" cy="1840409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0" name="Shape 27"/>
          <p:cNvSpPr/>
          <p:nvPr/>
        </p:nvSpPr>
        <p:spPr>
          <a:xfrm>
            <a:off x="17516475" y="4662413"/>
            <a:ext cx="9525" cy="1840409"/>
          </a:xfrm>
          <a:prstGeom prst="rect">
            <a:avLst/>
          </a:prstGeom>
          <a:solidFill>
            <a:srgbClr val="F3D6C6"/>
          </a:solidFill>
          <a:ln/>
        </p:spPr>
      </p:sp>
      <p:sp>
        <p:nvSpPr>
          <p:cNvPr id="31" name="Text 28"/>
          <p:cNvSpPr/>
          <p:nvPr/>
        </p:nvSpPr>
        <p:spPr>
          <a:xfrm>
            <a:off x="11163300" y="4843388"/>
            <a:ext cx="6737033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EMBED WORKS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1163300" y="5114851"/>
            <a:ext cx="6308312" cy="1245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00"/>
              </a:lnSpc>
              <a:buNone/>
            </a:pPr>
            <a:r>
              <a:rPr lang="en-US" sz="180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Care Budget and Parcel Area are secure Power BI embeds, not native cards. </a:t>
            </a:r>
            <a:pPr algn="l" indent="0" marL="0">
              <a:lnSpc>
                <a:spcPct val="115200"/>
              </a:lnSpc>
              <a:buNone/>
            </a:pPr>
            <a:r>
              <a:rPr lang="en-US" sz="180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hosts the report; Microsoft authenticates each viewer, so the figures come straight from the Finance semantic model.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10896600" y="6655222"/>
            <a:ext cx="6629400" cy="3041228"/>
          </a:xfrm>
          <a:prstGeom prst="roundRect">
            <a:avLst>
              <a:gd name="adj" fmla="val 563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134725" y="7366174"/>
            <a:ext cx="676846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5 AUGUST 2026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11134725" y="7694786"/>
            <a:ext cx="32794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SPENT TO DATE</a:t>
            </a:r>
            <a:endParaRPr lang="en-US" sz="1575" dirty="0"/>
          </a:p>
        </p:txBody>
      </p:sp>
      <p:sp>
        <p:nvSpPr>
          <p:cNvPr id="36" name="Text 33"/>
          <p:cNvSpPr/>
          <p:nvPr/>
        </p:nvSpPr>
        <p:spPr>
          <a:xfrm>
            <a:off x="11134725" y="7942436"/>
            <a:ext cx="32794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7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$458,995.17</a:t>
            </a:r>
            <a:endParaRPr lang="en-US" sz="2550" dirty="0"/>
          </a:p>
        </p:txBody>
      </p:sp>
      <p:sp>
        <p:nvSpPr>
          <p:cNvPr id="37" name="Text 34"/>
          <p:cNvSpPr/>
          <p:nvPr/>
        </p:nvSpPr>
        <p:spPr>
          <a:xfrm>
            <a:off x="14306550" y="7694786"/>
            <a:ext cx="32794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$775,000 LIMIT</a:t>
            </a:r>
            <a:endParaRPr lang="en-US" sz="1575" dirty="0"/>
          </a:p>
        </p:txBody>
      </p:sp>
      <p:sp>
        <p:nvSpPr>
          <p:cNvPr id="38" name="Text 35"/>
          <p:cNvSpPr/>
          <p:nvPr/>
        </p:nvSpPr>
        <p:spPr>
          <a:xfrm>
            <a:off x="14306550" y="7942436"/>
            <a:ext cx="32794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76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59.23%</a:t>
            </a:r>
            <a:endParaRPr lang="en-US" sz="2550" dirty="0"/>
          </a:p>
        </p:txBody>
      </p:sp>
      <p:sp>
        <p:nvSpPr>
          <p:cNvPr id="39" name="Text 36"/>
          <p:cNvSpPr/>
          <p:nvPr/>
        </p:nvSpPr>
        <p:spPr>
          <a:xfrm>
            <a:off x="11134725" y="8428211"/>
            <a:ext cx="21164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575" dirty="0"/>
          </a:p>
        </p:txBody>
      </p:sp>
      <p:sp>
        <p:nvSpPr>
          <p:cNvPr id="40" name="Text 37"/>
          <p:cNvSpPr/>
          <p:nvPr/>
        </p:nvSpPr>
        <p:spPr>
          <a:xfrm>
            <a:off x="11134725" y="8675861"/>
            <a:ext cx="21164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-63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$188,579.00</a:t>
            </a:r>
            <a:endParaRPr lang="en-US" sz="2100" dirty="0"/>
          </a:p>
        </p:txBody>
      </p:sp>
      <p:sp>
        <p:nvSpPr>
          <p:cNvPr id="41" name="Text 38"/>
          <p:cNvSpPr/>
          <p:nvPr/>
        </p:nvSpPr>
        <p:spPr>
          <a:xfrm>
            <a:off x="13249275" y="8428211"/>
            <a:ext cx="21164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575" dirty="0"/>
          </a:p>
        </p:txBody>
      </p:sp>
      <p:sp>
        <p:nvSpPr>
          <p:cNvPr id="42" name="Text 39"/>
          <p:cNvSpPr/>
          <p:nvPr/>
        </p:nvSpPr>
        <p:spPr>
          <a:xfrm>
            <a:off x="13249275" y="8675861"/>
            <a:ext cx="21164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-63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$192,318.50</a:t>
            </a:r>
            <a:endParaRPr lang="en-US" sz="2100" dirty="0"/>
          </a:p>
        </p:txBody>
      </p:sp>
      <p:sp>
        <p:nvSpPr>
          <p:cNvPr id="43" name="Text 40"/>
          <p:cNvSpPr/>
          <p:nvPr/>
        </p:nvSpPr>
        <p:spPr>
          <a:xfrm>
            <a:off x="15363825" y="8428211"/>
            <a:ext cx="211645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spc="126" kern="0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575" dirty="0"/>
          </a:p>
        </p:txBody>
      </p:sp>
      <p:sp>
        <p:nvSpPr>
          <p:cNvPr id="44" name="Text 41"/>
          <p:cNvSpPr/>
          <p:nvPr/>
        </p:nvSpPr>
        <p:spPr>
          <a:xfrm>
            <a:off x="15363825" y="8675861"/>
            <a:ext cx="21164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spc="-63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$78,097.67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90550"/>
            <a:ext cx="7793459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BUILDING AND ITERATING WITH CODEX AND CLAUDE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62000" y="904875"/>
            <a:ext cx="7793459" cy="582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blocks in every prompt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2716768" y="593601"/>
            <a:ext cx="4809232" cy="855315"/>
          </a:xfrm>
          <a:prstGeom prst="roundRect">
            <a:avLst>
              <a:gd name="adj" fmla="val 17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791566" y="736476"/>
            <a:ext cx="4515359" cy="607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0741"/>
              </a:lnSpc>
              <a:buNone/>
            </a:pPr>
            <a:r>
              <a:rPr lang="en-US" sz="1725" b="1" dirty="0">
                <a:solidFill>
                  <a:srgbClr val="35566B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AGENTS.md is read automatically by Codex. Keep it current.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762000" y="1658466"/>
            <a:ext cx="8305800" cy="3268861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0125" y="1839441"/>
            <a:ext cx="24139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9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79624" y="1877541"/>
            <a:ext cx="563918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32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CALLING — FILES TO READ FIRST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000125" y="2201391"/>
            <a:ext cx="7829550" cy="1295400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/>
        </p:spPr>
      </p:sp>
      <p:sp>
        <p:nvSpPr>
          <p:cNvPr id="10" name="Text 8"/>
          <p:cNvSpPr/>
          <p:nvPr/>
        </p:nvSpPr>
        <p:spPr>
          <a:xfrm>
            <a:off x="1133475" y="2315691"/>
            <a:ext cx="7797737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AGENTS.md,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handover/04-readiness-checklist.md,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handover/01-owner-guide.md,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docs/landcare-metrics-context.md first.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0125" y="3572991"/>
            <a:ext cx="8612505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Inherits the source-of-truth and change rules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agent plans anything.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9220200" y="1658466"/>
            <a:ext cx="8305800" cy="3268861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58325" y="1839441"/>
            <a:ext cx="24139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37824" y="1877541"/>
            <a:ext cx="5744126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32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— GOAL, SOURCE, METRIC RULE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458325" y="2201391"/>
            <a:ext cx="7829550" cy="1562100"/>
          </a:xfrm>
          <a:prstGeom prst="roundRect">
            <a:avLst>
              <a:gd name="adj" fmla="val 7317"/>
            </a:avLst>
          </a:prstGeom>
          <a:solidFill>
            <a:srgbClr val="F7FAFC"/>
          </a:solidFill>
          <a:ln/>
        </p:spPr>
      </p:sp>
      <p:sp>
        <p:nvSpPr>
          <p:cNvPr id="16" name="Text 14"/>
          <p:cNvSpPr/>
          <p:nvPr/>
        </p:nvSpPr>
        <p:spPr>
          <a:xfrm>
            <a:off x="9591675" y="2315691"/>
            <a:ext cx="7797737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Goal: [outcome and which page it affects].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[ArcGIS item, table, published JSON].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rule: completion uses raw assignment-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matched survey records over Active assigned;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Only is excluded.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62000" y="5079727"/>
            <a:ext cx="8305800" cy="326893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0125" y="5260702"/>
            <a:ext cx="2550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93316" y="5298802"/>
            <a:ext cx="572742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32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CALLS — WHAT THE AGENT MUST RUN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00125" y="5622652"/>
            <a:ext cx="7829550" cy="990600"/>
          </a:xfrm>
          <a:prstGeom prst="roundRect">
            <a:avLst>
              <a:gd name="adj" fmla="val 11538"/>
            </a:avLst>
          </a:prstGeom>
          <a:solidFill>
            <a:srgbClr val="F7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1133475" y="5717902"/>
            <a:ext cx="7797737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unittest discover -s tests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--test tests/survey-layer.test.mjs</a:t>
            </a:r>
            <a:endParaRPr lang="en-US" sz="1500" dirty="0"/>
          </a:p>
          <a:p>
            <a:pPr algn="l" indent="0" marL="0">
              <a:lnSpc>
                <a:spcPct val="124444"/>
              </a:lnSpc>
              <a:buNone/>
            </a:pPr>
            <a:r>
              <a:rPr lang="en-US" sz="1500" dirty="0">
                <a:solidFill>
                  <a:srgbClr val="0033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Pages validation + read-only ArcGIS smoke test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00125" y="6689452"/>
            <a:ext cx="1136749" cy="375270"/>
          </a:xfrm>
          <a:prstGeom prst="roundRect">
            <a:avLst>
              <a:gd name="adj" fmla="val 50000"/>
            </a:avLst>
          </a:prstGeom>
          <a:ln w="1905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475" y="6737077"/>
            <a:ext cx="946249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@chrome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2232124" y="6737077"/>
            <a:ext cx="3840495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live route, its map and console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1000125" y="7121872"/>
            <a:ext cx="1478607" cy="375270"/>
          </a:xfrm>
          <a:prstGeom prst="roundRect">
            <a:avLst>
              <a:gd name="adj" fmla="val 50000"/>
            </a:avLst>
          </a:prstGeom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33475" y="7169497"/>
            <a:ext cx="1288107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</a:t>
            </a:r>
            <a:endParaRPr lang="en-US" sz="1575" dirty="0"/>
          </a:p>
        </p:txBody>
      </p:sp>
      <p:sp>
        <p:nvSpPr>
          <p:cNvPr id="27" name="Text 25"/>
          <p:cNvSpPr/>
          <p:nvPr/>
        </p:nvSpPr>
        <p:spPr>
          <a:xfrm>
            <a:off x="2573982" y="7169497"/>
            <a:ext cx="4121177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 contractor flow, confirm the prefill</a:t>
            </a:r>
            <a:endParaRPr lang="en-US" sz="1575" dirty="0"/>
          </a:p>
        </p:txBody>
      </p:sp>
      <p:sp>
        <p:nvSpPr>
          <p:cNvPr id="28" name="Text 26"/>
          <p:cNvSpPr/>
          <p:nvPr/>
        </p:nvSpPr>
        <p:spPr>
          <a:xfrm>
            <a:off x="1000125" y="7573342"/>
            <a:ext cx="8612505" cy="294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tool. Report result, evidence, and rollback before commit.</a:t>
            </a:r>
            <a:endParaRPr lang="en-US" sz="1575" dirty="0"/>
          </a:p>
        </p:txBody>
      </p:sp>
      <p:sp>
        <p:nvSpPr>
          <p:cNvPr id="29" name="Shape 27"/>
          <p:cNvSpPr/>
          <p:nvPr/>
        </p:nvSpPr>
        <p:spPr>
          <a:xfrm>
            <a:off x="9220200" y="5079727"/>
            <a:ext cx="8305800" cy="326893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58325" y="5260702"/>
            <a:ext cx="2550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9751516" y="5298802"/>
            <a:ext cx="5521397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32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SNIPPETS — ADD PER TASK TYPE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458325" y="5622652"/>
            <a:ext cx="8064437" cy="558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change: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the metrics doc and its test in the same change; show before and after for the latest period.</a:t>
            </a:r>
            <a:endParaRPr lang="en-US" sz="1575" dirty="0"/>
          </a:p>
        </p:txBody>
      </p:sp>
      <p:sp>
        <p:nvSpPr>
          <p:cNvPr id="33" name="Text 31"/>
          <p:cNvSpPr/>
          <p:nvPr/>
        </p:nvSpPr>
        <p:spPr>
          <a:xfrm>
            <a:off x="9458325" y="6199808"/>
            <a:ext cx="8612505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page or restyle: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design system rules; no framework, no build step.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9458325" y="6516960"/>
            <a:ext cx="8064437" cy="5581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or field mapping: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only the adapter files; keep normalized property names stable.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9458325" y="7094116"/>
            <a:ext cx="8612505" cy="2981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adapter: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every importer's </a:t>
            </a:r>
            <a:pPr algn="l" indent="0" marL="0">
              <a:lnSpc>
                <a:spcPct val="113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?v= </a:t>
            </a:r>
            <a:pPr algn="l" indent="0" marL="0">
              <a:lnSpc>
                <a:spcPct val="113750"/>
              </a:lnSpc>
              <a:buNone/>
            </a:pPr>
            <a:r>
              <a:rPr lang="en-US" sz="157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together.</a:t>
            </a:r>
            <a:endParaRPr lang="en-US" sz="1575" dirty="0"/>
          </a:p>
        </p:txBody>
      </p:sp>
      <p:sp>
        <p:nvSpPr>
          <p:cNvPr id="36" name="Shape 34"/>
          <p:cNvSpPr/>
          <p:nvPr/>
        </p:nvSpPr>
        <p:spPr>
          <a:xfrm>
            <a:off x="762000" y="8558213"/>
            <a:ext cx="16764000" cy="1138238"/>
          </a:xfrm>
          <a:prstGeom prst="roundRect">
            <a:avLst>
              <a:gd name="adj" fmla="val 13389"/>
            </a:avLst>
          </a:prstGeom>
          <a:solidFill>
            <a:srgbClr val="00334F"/>
          </a:solidFill>
          <a:ln/>
        </p:spPr>
      </p:sp>
      <p:sp>
        <p:nvSpPr>
          <p:cNvPr id="37" name="Text 35"/>
          <p:cNvSpPr/>
          <p:nvPr/>
        </p:nvSpPr>
        <p:spPr>
          <a:xfrm>
            <a:off x="1009650" y="8691563"/>
            <a:ext cx="1789557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9FE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FAILURE MODES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09650" y="8982075"/>
            <a:ext cx="57695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Denominator drift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521425" y="8982075"/>
            <a:ext cx="57695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cache-busting versions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2033200" y="8982075"/>
            <a:ext cx="576966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Hardcoded endpoints outside the adapters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09650" y="9301163"/>
            <a:ext cx="57695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Hand-editing docs/landcare/data/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6521425" y="9301163"/>
            <a:ext cx="57695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Guessing a NetSuite vendor alias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033200" y="9301163"/>
            <a:ext cx="576966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Calling the native finance cards Power BI-backed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90550"/>
            <a:ext cx="951357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DESIGN SYSTEM USAGE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62000" y="904875"/>
            <a:ext cx="9513570" cy="582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Style for future GIS Web App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4083653" y="831726"/>
            <a:ext cx="3442347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7818"/>
              </a:lnSpc>
              <a:buNone/>
            </a:pPr>
            <a:r>
              <a:rPr lang="en-US" sz="1800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Manrope only · four hues plus ink, muted, and line neutrals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1658466"/>
            <a:ext cx="8970913" cy="7378973"/>
          </a:xfrm>
          <a:prstGeom prst="roundRect">
            <a:avLst>
              <a:gd name="adj" fmla="val 2323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-37917"/>
          <a:stretch/>
        </p:blipFill>
        <p:spPr>
          <a:xfrm>
            <a:off x="771525" y="1667991"/>
            <a:ext cx="8951863" cy="735992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2000" y="9151739"/>
            <a:ext cx="9240040" cy="582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400"/>
              </a:lnSpc>
              <a:buNone/>
            </a:pPr>
            <a:r>
              <a:rPr lang="en-US" sz="1650" b="1" dirty="0">
                <a:solidFill>
                  <a:srgbClr val="5B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Monitor, live · fixed blue header, pill filters, hairline cards, and status colours always paired with a label.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923413" y="1658466"/>
            <a:ext cx="3734619" cy="1500932"/>
          </a:xfrm>
          <a:prstGeom prst="roundRect">
            <a:avLst>
              <a:gd name="adj" fmla="val 10154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142488" y="1839441"/>
            <a:ext cx="362611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142488" y="2110904"/>
            <a:ext cx="3395363" cy="9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~2,800 lines, coupled to the ArcGIS theme. </a:t>
            </a:r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to change an existing page.</a:t>
            </a:r>
            <a:endParaRPr lang="en-US" sz="1725" dirty="0"/>
          </a:p>
        </p:txBody>
      </p:sp>
      <p:sp>
        <p:nvSpPr>
          <p:cNvPr id="11" name="Shape 8"/>
          <p:cNvSpPr/>
          <p:nvPr/>
        </p:nvSpPr>
        <p:spPr>
          <a:xfrm>
            <a:off x="13791381" y="1658466"/>
            <a:ext cx="3734619" cy="1500932"/>
          </a:xfrm>
          <a:prstGeom prst="roundRect">
            <a:avLst>
              <a:gd name="adj" fmla="val 10154"/>
            </a:avLst>
          </a:prstGeom>
          <a:solidFill>
            <a:srgbClr val="EEF8FB"/>
          </a:solidFill>
          <a:ln w="9525">
            <a:solidFill>
              <a:srgbClr val="BFE0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010456" y="1839441"/>
            <a:ext cx="362611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EXECUTIVE-BI.CSS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010456" y="2110904"/>
            <a:ext cx="3395363" cy="9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portable lines. </a:t>
            </a:r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to start a new dashboard </a:t>
            </a:r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with design-system/example.html.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9923413" y="3311798"/>
            <a:ext cx="7602587" cy="3202484"/>
          </a:xfrm>
          <a:prstGeom prst="roundRect">
            <a:avLst>
              <a:gd name="adj" fmla="val 5354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61538" y="3511823"/>
            <a:ext cx="7838971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OVER COMPONENTS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161538" y="3840435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006C9F"/>
          </a:solidFill>
          <a:ln/>
        </p:spPr>
      </p:sp>
      <p:sp>
        <p:nvSpPr>
          <p:cNvPr id="17" name="Text 14"/>
          <p:cNvSpPr/>
          <p:nvPr/>
        </p:nvSpPr>
        <p:spPr>
          <a:xfrm>
            <a:off x="10675888" y="3902348"/>
            <a:ext cx="49151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--bi-primary #006c9f · analysis, active controls</a:t>
            </a:r>
            <a:endParaRPr lang="en-US" sz="1725" dirty="0"/>
          </a:p>
        </p:txBody>
      </p:sp>
      <p:sp>
        <p:nvSpPr>
          <p:cNvPr id="18" name="Shape 15"/>
          <p:cNvSpPr/>
          <p:nvPr/>
        </p:nvSpPr>
        <p:spPr>
          <a:xfrm>
            <a:off x="10161538" y="430716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00334F"/>
          </a:solidFill>
          <a:ln/>
        </p:spPr>
      </p:sp>
      <p:sp>
        <p:nvSpPr>
          <p:cNvPr id="19" name="Text 16"/>
          <p:cNvSpPr/>
          <p:nvPr/>
        </p:nvSpPr>
        <p:spPr>
          <a:xfrm>
            <a:off x="10675888" y="4369073"/>
            <a:ext cx="518464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--bi-deep #00334f · headings, authoritative detail</a:t>
            </a:r>
            <a:endParaRPr lang="en-US" sz="1725" dirty="0"/>
          </a:p>
        </p:txBody>
      </p:sp>
      <p:sp>
        <p:nvSpPr>
          <p:cNvPr id="20" name="Shape 17"/>
          <p:cNvSpPr/>
          <p:nvPr/>
        </p:nvSpPr>
        <p:spPr>
          <a:xfrm>
            <a:off x="10161538" y="4773885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C2410C"/>
          </a:solidFill>
          <a:ln/>
        </p:spPr>
      </p:sp>
      <p:sp>
        <p:nvSpPr>
          <p:cNvPr id="21" name="Text 18"/>
          <p:cNvSpPr/>
          <p:nvPr/>
        </p:nvSpPr>
        <p:spPr>
          <a:xfrm>
            <a:off x="10675888" y="4835798"/>
            <a:ext cx="424543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--bi-risk #c2410c · action, risk, follow-up</a:t>
            </a:r>
            <a:endParaRPr lang="en-US" sz="1725" dirty="0"/>
          </a:p>
        </p:txBody>
      </p:sp>
      <p:sp>
        <p:nvSpPr>
          <p:cNvPr id="22" name="Shape 19"/>
          <p:cNvSpPr/>
          <p:nvPr/>
        </p:nvSpPr>
        <p:spPr>
          <a:xfrm>
            <a:off x="10161538" y="5240610"/>
            <a:ext cx="381000" cy="381000"/>
          </a:xfrm>
          <a:prstGeom prst="roundRect">
            <a:avLst>
              <a:gd name="adj" fmla="val 30000"/>
            </a:avLst>
          </a:prstGeom>
          <a:solidFill>
            <a:srgbClr val="2E7D32"/>
          </a:solidFill>
          <a:ln/>
        </p:spPr>
      </p:sp>
      <p:sp>
        <p:nvSpPr>
          <p:cNvPr id="23" name="Text 20"/>
          <p:cNvSpPr/>
          <p:nvPr/>
        </p:nvSpPr>
        <p:spPr>
          <a:xfrm>
            <a:off x="10675888" y="5302523"/>
            <a:ext cx="502306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--bi-success #2e7d32 · target, complete, stable</a:t>
            </a:r>
            <a:endParaRPr lang="en-US" sz="1725" dirty="0"/>
          </a:p>
        </p:txBody>
      </p:sp>
      <p:sp>
        <p:nvSpPr>
          <p:cNvPr id="24" name="Text 21"/>
          <p:cNvSpPr/>
          <p:nvPr/>
        </p:nvSpPr>
        <p:spPr>
          <a:xfrm>
            <a:off x="10161538" y="5735910"/>
            <a:ext cx="7340127" cy="6164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 the variables at .bi-dashboard level </a:t>
            </a:r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rather than restyling a component.</a:t>
            </a:r>
            <a:endParaRPr lang="en-US" sz="1725" dirty="0"/>
          </a:p>
        </p:txBody>
      </p:sp>
      <p:sp>
        <p:nvSpPr>
          <p:cNvPr id="25" name="Shape 22"/>
          <p:cNvSpPr/>
          <p:nvPr/>
        </p:nvSpPr>
        <p:spPr>
          <a:xfrm>
            <a:off x="9923413" y="6666681"/>
            <a:ext cx="7602587" cy="3029769"/>
          </a:xfrm>
          <a:prstGeom prst="roundRect">
            <a:avLst>
              <a:gd name="adj" fmla="val 5659"/>
            </a:avLst>
          </a:prstGeom>
          <a:solidFill>
            <a:srgbClr val="FFFFFF"/>
          </a:solidFill>
          <a:ln/>
        </p:spPr>
      </p:sp>
      <p:sp>
        <p:nvSpPr>
          <p:cNvPr id="26" name="Shape 23"/>
          <p:cNvSpPr/>
          <p:nvPr/>
        </p:nvSpPr>
        <p:spPr>
          <a:xfrm>
            <a:off x="9923413" y="9686925"/>
            <a:ext cx="7602587" cy="9525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27" name="Shape 24"/>
          <p:cNvSpPr/>
          <p:nvPr/>
        </p:nvSpPr>
        <p:spPr>
          <a:xfrm>
            <a:off x="9923413" y="6666681"/>
            <a:ext cx="7602587" cy="9525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28" name="Shape 25"/>
          <p:cNvSpPr/>
          <p:nvPr/>
        </p:nvSpPr>
        <p:spPr>
          <a:xfrm>
            <a:off x="9923413" y="6666681"/>
            <a:ext cx="38100" cy="3029769"/>
          </a:xfrm>
          <a:prstGeom prst="rect">
            <a:avLst/>
          </a:prstGeom>
          <a:solidFill>
            <a:srgbClr val="00334F"/>
          </a:solidFill>
          <a:ln/>
        </p:spPr>
      </p:sp>
      <p:sp>
        <p:nvSpPr>
          <p:cNvPr id="29" name="Shape 26"/>
          <p:cNvSpPr/>
          <p:nvPr/>
        </p:nvSpPr>
        <p:spPr>
          <a:xfrm>
            <a:off x="17516475" y="6666681"/>
            <a:ext cx="9525" cy="3029769"/>
          </a:xfrm>
          <a:prstGeom prst="rect">
            <a:avLst/>
          </a:prstGeom>
          <a:solidFill>
            <a:srgbClr val="E2EAEF"/>
          </a:solidFill>
          <a:ln/>
        </p:spPr>
      </p:sp>
      <p:sp>
        <p:nvSpPr>
          <p:cNvPr id="30" name="Text 27"/>
          <p:cNvSpPr/>
          <p:nvPr/>
        </p:nvSpPr>
        <p:spPr>
          <a:xfrm>
            <a:off x="10190113" y="6847656"/>
            <a:ext cx="78075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PAGE ORDER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0190113" y="7157219"/>
            <a:ext cx="1221358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0361563" y="7233419"/>
            <a:ext cx="9546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Masthead</a:t>
            </a:r>
            <a:endParaRPr lang="en-US" sz="1575" dirty="0"/>
          </a:p>
        </p:txBody>
      </p:sp>
      <p:sp>
        <p:nvSpPr>
          <p:cNvPr id="33" name="Shape 30"/>
          <p:cNvSpPr/>
          <p:nvPr/>
        </p:nvSpPr>
        <p:spPr>
          <a:xfrm>
            <a:off x="11487671" y="7157219"/>
            <a:ext cx="765423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1659121" y="7233419"/>
            <a:ext cx="49872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12329294" y="7157219"/>
            <a:ext cx="1738164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2500744" y="7233419"/>
            <a:ext cx="147146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filters</a:t>
            </a:r>
            <a:endParaRPr lang="en-US" sz="1575" dirty="0"/>
          </a:p>
        </p:txBody>
      </p:sp>
      <p:sp>
        <p:nvSpPr>
          <p:cNvPr id="37" name="Shape 34"/>
          <p:cNvSpPr/>
          <p:nvPr/>
        </p:nvSpPr>
        <p:spPr>
          <a:xfrm>
            <a:off x="14143658" y="7157219"/>
            <a:ext cx="1921818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4315108" y="7233419"/>
            <a:ext cx="165511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question</a:t>
            </a:r>
            <a:endParaRPr lang="en-US" sz="1575" dirty="0"/>
          </a:p>
        </p:txBody>
      </p:sp>
      <p:sp>
        <p:nvSpPr>
          <p:cNvPr id="39" name="Shape 36"/>
          <p:cNvSpPr/>
          <p:nvPr/>
        </p:nvSpPr>
        <p:spPr>
          <a:xfrm>
            <a:off x="10190113" y="7614419"/>
            <a:ext cx="1376735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361563" y="7690619"/>
            <a:ext cx="11100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metrics</a:t>
            </a:r>
            <a:endParaRPr lang="en-US" sz="1575" dirty="0"/>
          </a:p>
        </p:txBody>
      </p:sp>
      <p:sp>
        <p:nvSpPr>
          <p:cNvPr id="41" name="Shape 38"/>
          <p:cNvSpPr/>
          <p:nvPr/>
        </p:nvSpPr>
        <p:spPr>
          <a:xfrm>
            <a:off x="11643047" y="7614419"/>
            <a:ext cx="2377380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1814497" y="7690619"/>
            <a:ext cx="21106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map or chart</a:t>
            </a:r>
            <a:endParaRPr lang="en-US" sz="1575" dirty="0"/>
          </a:p>
        </p:txBody>
      </p:sp>
      <p:sp>
        <p:nvSpPr>
          <p:cNvPr id="43" name="Shape 40"/>
          <p:cNvSpPr/>
          <p:nvPr/>
        </p:nvSpPr>
        <p:spPr>
          <a:xfrm>
            <a:off x="14096628" y="7614419"/>
            <a:ext cx="1988641" cy="381000"/>
          </a:xfrm>
          <a:prstGeom prst="roundRect">
            <a:avLst>
              <a:gd name="adj" fmla="val 50000"/>
            </a:avLst>
          </a:prstGeom>
          <a:ln w="19050">
            <a:solidFill>
              <a:srgbClr val="0098D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4268078" y="7690619"/>
            <a:ext cx="172194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ledger</a:t>
            </a:r>
            <a:endParaRPr lang="en-US" sz="1575" dirty="0"/>
          </a:p>
        </p:txBody>
      </p:sp>
      <p:sp>
        <p:nvSpPr>
          <p:cNvPr id="45" name="Text 42"/>
          <p:cNvSpPr/>
          <p:nvPr/>
        </p:nvSpPr>
        <p:spPr>
          <a:xfrm>
            <a:off x="10190113" y="8090669"/>
            <a:ext cx="7310695" cy="855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400"/>
              </a:lnSpc>
              <a:buNone/>
            </a:pPr>
            <a:r>
              <a:rPr lang="en-US" sz="1650" b="1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in review: </a:t>
            </a:r>
            <a:pPr algn="l" indent="0" marL="0">
              <a:lnSpc>
                <a:spcPct val="114400"/>
              </a:lnSpc>
              <a:buNone/>
            </a:pPr>
            <a:r>
              <a:rPr lang="en-US" sz="1650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always paired with a label; every number shows source, period, denominator, freshness; contrast ≥ 4.5:1; explicit loading, empty, stale, error states.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3900" y="571500"/>
            <a:ext cx="10854444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REPLACING REGRID, STAYING GROUNDED IN ARCGIS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23900" y="885825"/>
            <a:ext cx="10854444" cy="582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scope is one intake form and one export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2522547" y="574551"/>
            <a:ext cx="5041553" cy="855315"/>
          </a:xfrm>
          <a:prstGeom prst="roundRect">
            <a:avLst>
              <a:gd name="adj" fmla="val 17818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90376" y="717426"/>
            <a:ext cx="4754649" cy="607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0741"/>
              </a:lnSpc>
              <a:buNone/>
            </a:pPr>
            <a:r>
              <a:rPr lang="en-US" sz="1725" b="1" dirty="0">
                <a:solidFill>
                  <a:srgbClr val="35566B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Assignments, parcel geometry, ownership, dashboard and portal are already URA property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723900" y="1620366"/>
            <a:ext cx="16840200" cy="5780559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-34388" r="-34388" t="0" b="0"/>
          <a:stretch/>
        </p:blipFill>
        <p:spPr>
          <a:xfrm>
            <a:off x="847725" y="1744191"/>
            <a:ext cx="16592550" cy="553290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3900" y="7591425"/>
            <a:ext cx="5457825" cy="2124075"/>
          </a:xfrm>
          <a:prstGeom prst="roundRect">
            <a:avLst>
              <a:gd name="adj" fmla="val 717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2025" y="7772400"/>
            <a:ext cx="547973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spc="114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GROUNDED IN ARCGIS</a:t>
            </a:r>
            <a:endParaRPr lang="en-US" sz="1425" dirty="0"/>
          </a:p>
        </p:txBody>
      </p:sp>
      <p:sp>
        <p:nvSpPr>
          <p:cNvPr id="10" name="Text 7"/>
          <p:cNvSpPr/>
          <p:nvPr/>
        </p:nvSpPr>
        <p:spPr>
          <a:xfrm>
            <a:off x="962025" y="8043863"/>
            <a:ext cx="5131022" cy="1194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Parcels, assignments, and evidence stay </a:t>
            </a:r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feature layers </a:t>
            </a:r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queried live at page load. </a:t>
            </a:r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URA owns the intake; Esri carries the geometry and sharing model.</a:t>
            </a:r>
            <a:endParaRPr lang="en-US" sz="1725" dirty="0"/>
          </a:p>
        </p:txBody>
      </p:sp>
      <p:sp>
        <p:nvSpPr>
          <p:cNvPr id="11" name="Shape 8"/>
          <p:cNvSpPr/>
          <p:nvPr/>
        </p:nvSpPr>
        <p:spPr>
          <a:xfrm>
            <a:off x="6353175" y="7591425"/>
            <a:ext cx="5581650" cy="2124075"/>
          </a:xfrm>
          <a:prstGeom prst="roundRect">
            <a:avLst>
              <a:gd name="adj" fmla="val 717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91300" y="7772400"/>
            <a:ext cx="561594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b="1" spc="114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IN DEVELOPMENT</a:t>
            </a:r>
            <a:endParaRPr lang="en-US" sz="1425" dirty="0"/>
          </a:p>
        </p:txBody>
      </p:sp>
      <p:sp>
        <p:nvSpPr>
          <p:cNvPr id="13" name="Text 10"/>
          <p:cNvSpPr/>
          <p:nvPr/>
        </p:nvSpPr>
        <p:spPr>
          <a:xfrm>
            <a:off x="6591300" y="8043863"/>
            <a:ext cx="5258562" cy="1194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surveys pipeline need to be checked. </a:t>
            </a:r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Webhook, evidence sync, and layer publisher are written but not deployed, to fully replace regrid. </a:t>
            </a:r>
            <a:pPr algn="l" indent="0" marL="0">
              <a:lnSpc>
                <a:spcPct val="112444"/>
              </a:lnSpc>
              <a:buNone/>
            </a:pPr>
            <a:r>
              <a:rPr lang="en-US" sz="172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that path is the last step </a:t>
            </a:r>
            <a:pPr algn="l" indent="0" marL="0">
              <a:lnSpc>
                <a:spcPct val="112444"/>
              </a:lnSpc>
              <a:buNone/>
            </a:pPr>
            <a:r>
              <a:rPr lang="en-US" sz="1725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cutover.</a:t>
            </a:r>
            <a:endParaRPr lang="en-US" sz="17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3900" y="571500"/>
            <a:ext cx="1292375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98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OWNER OPERATING PLAYBOOK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723900" y="885825"/>
            <a:ext cx="12101330" cy="11261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558"/>
              </a:lnSpc>
              <a:buNone/>
            </a:pPr>
            <a:r>
              <a:rPr lang="en-US" sz="4200" b="1" spc="-126" kern="0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source, the metric, and the release path stable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2853764" y="833810"/>
            <a:ext cx="4710336" cy="1140098"/>
          </a:xfrm>
          <a:prstGeom prst="roundRect">
            <a:avLst>
              <a:gd name="adj" fmla="val 13367"/>
            </a:avLst>
          </a:prstGeom>
          <a:solidFill>
            <a:srgbClr val="EEF8FB"/>
          </a:solidFill>
          <a:ln w="9525">
            <a:solidFill>
              <a:srgbClr val="BFE0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31529" y="976685"/>
            <a:ext cx="4413496" cy="892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0741"/>
              </a:lnSpc>
              <a:buNone/>
            </a:pPr>
            <a:r>
              <a:rPr lang="en-US" sz="1725" b="1" dirty="0">
                <a:solidFill>
                  <a:srgbClr val="006C9F"/>
                </a:solidFill>
                <a:highlight>
                  <a:srgbClr val="EEF8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Status: handover/04-readiness-checklist.md Deep reference: handover/01-owner-guide.md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723900" y="2164407"/>
            <a:ext cx="8334375" cy="2840757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2025" y="2364432"/>
            <a:ext cx="86439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DAILY CHECK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2025" y="2693045"/>
            <a:ext cx="2365325" cy="2112094"/>
          </a:xfrm>
          <a:prstGeom prst="roundRect">
            <a:avLst>
              <a:gd name="adj" fmla="val 5412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2797820"/>
            <a:ext cx="2155775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AM ArcGIS freshness</a:t>
            </a:r>
            <a:endParaRPr lang="en-US" sz="1575" dirty="0"/>
          </a:p>
        </p:txBody>
      </p:sp>
      <p:sp>
        <p:nvSpPr>
          <p:cNvPr id="10" name="Text 8"/>
          <p:cNvSpPr/>
          <p:nvPr/>
        </p:nvSpPr>
        <p:spPr>
          <a:xfrm>
            <a:off x="3422600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708350" y="2693045"/>
            <a:ext cx="2365400" cy="2112094"/>
          </a:xfrm>
          <a:prstGeom prst="roundRect">
            <a:avLst>
              <a:gd name="adj" fmla="val 5412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51225" y="2797820"/>
            <a:ext cx="2155850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and KPI agree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6169000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54750" y="2693045"/>
            <a:ext cx="2365400" cy="2112094"/>
          </a:xfrm>
          <a:prstGeom prst="roundRect">
            <a:avLst>
              <a:gd name="adj" fmla="val 5412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97625" y="2797820"/>
            <a:ext cx="2155850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embed loads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9229725" y="2164407"/>
            <a:ext cx="8334375" cy="2840757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7850" y="2364432"/>
            <a:ext cx="86439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SAFE CHANGE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67850" y="2693045"/>
            <a:ext cx="1297260" cy="2112094"/>
          </a:xfrm>
          <a:prstGeom prst="roundRect">
            <a:avLst>
              <a:gd name="adj" fmla="val 8811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10725" y="2797820"/>
            <a:ext cx="1087710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sources</a:t>
            </a:r>
            <a:endParaRPr lang="en-US" sz="1575" dirty="0"/>
          </a:p>
        </p:txBody>
      </p:sp>
      <p:sp>
        <p:nvSpPr>
          <p:cNvPr id="20" name="Text 18"/>
          <p:cNvSpPr/>
          <p:nvPr/>
        </p:nvSpPr>
        <p:spPr>
          <a:xfrm>
            <a:off x="10841310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1108010" y="2693045"/>
            <a:ext cx="1297335" cy="2112094"/>
          </a:xfrm>
          <a:prstGeom prst="roundRect">
            <a:avLst>
              <a:gd name="adj" fmla="val 8810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50885" y="2797820"/>
            <a:ext cx="1087785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metric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12481545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2748245" y="2693045"/>
            <a:ext cx="1297260" cy="2112094"/>
          </a:xfrm>
          <a:prstGeom prst="roundRect">
            <a:avLst>
              <a:gd name="adj" fmla="val 8811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891120" y="2797820"/>
            <a:ext cx="1087710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adapter</a:t>
            </a:r>
            <a:endParaRPr lang="en-US" sz="1575" dirty="0"/>
          </a:p>
        </p:txBody>
      </p:sp>
      <p:sp>
        <p:nvSpPr>
          <p:cNvPr id="26" name="Text 24"/>
          <p:cNvSpPr/>
          <p:nvPr/>
        </p:nvSpPr>
        <p:spPr>
          <a:xfrm>
            <a:off x="14121705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4388405" y="2693045"/>
            <a:ext cx="1297335" cy="2112094"/>
          </a:xfrm>
          <a:prstGeom prst="roundRect">
            <a:avLst>
              <a:gd name="adj" fmla="val 8810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531280" y="2797820"/>
            <a:ext cx="1087785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tests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15761940" y="3641899"/>
            <a:ext cx="2667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DB4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6028640" y="2693045"/>
            <a:ext cx="1297335" cy="2112094"/>
          </a:xfrm>
          <a:prstGeom prst="roundRect">
            <a:avLst>
              <a:gd name="adj" fmla="val 8810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171515" y="2797820"/>
            <a:ext cx="1087785" cy="1940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06750"/>
              </a:lnSpc>
              <a:buNone/>
            </a:pPr>
            <a:r>
              <a:rPr lang="en-US" sz="1575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deploy</a:t>
            </a:r>
            <a:endParaRPr lang="en-US" sz="1575" dirty="0"/>
          </a:p>
        </p:txBody>
      </p:sp>
      <p:sp>
        <p:nvSpPr>
          <p:cNvPr id="32" name="Shape 30"/>
          <p:cNvSpPr/>
          <p:nvPr/>
        </p:nvSpPr>
        <p:spPr>
          <a:xfrm>
            <a:off x="723900" y="5176614"/>
            <a:ext cx="8334375" cy="2840757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2025" y="5376639"/>
            <a:ext cx="86439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DO NOT DRIFT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62025" y="5705252"/>
            <a:ext cx="1344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115541" y="5705252"/>
            <a:ext cx="425378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matched records, not unique parcels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62025" y="6043389"/>
            <a:ext cx="1344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115541" y="6043389"/>
            <a:ext cx="360687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shared ?v= versions together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62025" y="6381527"/>
            <a:ext cx="1344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115541" y="6381527"/>
            <a:ext cx="3382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live in the adapter files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62025" y="6719664"/>
            <a:ext cx="1344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115541" y="6719664"/>
            <a:ext cx="37159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hand-edit docs/landcare/data/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62025" y="7057802"/>
            <a:ext cx="1344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115541" y="7057802"/>
            <a:ext cx="722742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03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embed Power BI page 8c93bab49c96aa8e3bd2 — wrong scope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9229725" y="5176614"/>
            <a:ext cx="8334375" cy="2840757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67850" y="5376639"/>
            <a:ext cx="86439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35" kern="0" dirty="0">
                <a:solidFill>
                  <a:srgbClr val="00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DESIGN SYSTEM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9467850" y="5705252"/>
            <a:ext cx="3881438" cy="709613"/>
          </a:xfrm>
          <a:prstGeom prst="roundRect">
            <a:avLst>
              <a:gd name="adj" fmla="val 16107"/>
            </a:avLst>
          </a:prstGeom>
          <a:solidFill>
            <a:srgbClr val="F7FAFC"/>
          </a:solidFill>
          <a:ln w="9525">
            <a:solidFill>
              <a:srgbClr val="E2EA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10725" y="5810027"/>
            <a:ext cx="371213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00334F"/>
                </a:solidFill>
                <a:highlight>
                  <a:srgbClr val="F7FAF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Existing product </a:t>
            </a:r>
            <a:pPr algn="l" indent="0" marL="0">
              <a:lnSpc>
                <a:spcPct val="109375"/>
              </a:lnSpc>
              <a:buNone/>
            </a:pPr>
            <a:r>
              <a:rPr lang="en-US" sz="1575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docs/landcare/app.css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13444538" y="5705252"/>
            <a:ext cx="3881438" cy="709613"/>
          </a:xfrm>
          <a:prstGeom prst="roundRect">
            <a:avLst>
              <a:gd name="adj" fmla="val 16107"/>
            </a:avLst>
          </a:prstGeom>
          <a:solidFill>
            <a:srgbClr val="EEF8FB"/>
          </a:solidFill>
          <a:ln w="9525">
            <a:solidFill>
              <a:srgbClr val="BFE0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587413" y="5810027"/>
            <a:ext cx="371213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00334F"/>
                </a:solidFill>
                <a:highlight>
                  <a:srgbClr val="EEF8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New dashboard </a:t>
            </a:r>
            <a:pPr algn="l" indent="0" marL="0">
              <a:lnSpc>
                <a:spcPct val="109375"/>
              </a:lnSpc>
              <a:buNone/>
            </a:pPr>
            <a:r>
              <a:rPr lang="en-US" sz="1575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docs/design-system/executive-bi.css</a:t>
            </a:r>
            <a:endParaRPr lang="en-US" sz="1575" dirty="0"/>
          </a:p>
        </p:txBody>
      </p:sp>
      <p:sp>
        <p:nvSpPr>
          <p:cNvPr id="50" name="Text 48"/>
          <p:cNvSpPr/>
          <p:nvPr/>
        </p:nvSpPr>
        <p:spPr>
          <a:xfrm>
            <a:off x="9467850" y="6510114"/>
            <a:ext cx="8643938" cy="28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375"/>
              </a:lnSpc>
              <a:buNone/>
            </a:pPr>
            <a:r>
              <a:rPr lang="en-US" sz="1575" b="1" dirty="0">
                <a:solidFill>
                  <a:srgbClr val="35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first · 3 to 5 KPIs · one dominant map or chart · operational ledger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723900" y="8207871"/>
            <a:ext cx="16840200" cy="1507629"/>
          </a:xfrm>
          <a:prstGeom prst="roundRect">
            <a:avLst>
              <a:gd name="adj" fmla="val 11372"/>
            </a:avLst>
          </a:prstGeom>
          <a:solidFill>
            <a:srgbClr val="00334F"/>
          </a:solidFill>
          <a:ln/>
        </p:spPr>
      </p:sp>
      <p:sp>
        <p:nvSpPr>
          <p:cNvPr id="52" name="Text 50"/>
          <p:cNvSpPr/>
          <p:nvPr/>
        </p:nvSpPr>
        <p:spPr>
          <a:xfrm>
            <a:off x="1009650" y="8398371"/>
            <a:ext cx="1789557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9FE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ITEMS FOR THE NEXT OWNER TO DECIDE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09650" y="8707934"/>
            <a:ext cx="5363184" cy="855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Survey123 evidence path is code-complete but not deployed. </a:t>
            </a:r>
            <a:pPr algn="l" indent="0" marL="0">
              <a:lnSpc>
                <a:spcPct val="114400"/>
              </a:lnSpc>
              <a:buNone/>
            </a:pPr>
            <a:r>
              <a:rPr lang="en-US" sz="1650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blocker on replacing Regrid.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6540475" y="8707934"/>
            <a:ext cx="5363184" cy="855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workspace administration is not yet granted. </a:t>
            </a:r>
            <a:pPr algn="l" indent="0" marL="0">
              <a:lnSpc>
                <a:spcPct val="114400"/>
              </a:lnSpc>
              <a:buNone/>
            </a:pPr>
            <a:r>
              <a:rPr lang="en-US" sz="1650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history and service-principal access stay blocked until it is.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2071300" y="8707934"/>
            <a:ext cx="5363261" cy="855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deprecated 7 AM task still needs archiving and disabling on the VM </a:t>
            </a:r>
            <a:pPr algn="l" indent="0" marL="0">
              <a:lnSpc>
                <a:spcPct val="114400"/>
              </a:lnSpc>
              <a:buNone/>
            </a:pPr>
            <a:r>
              <a:rPr lang="en-US" sz="1650" dirty="0">
                <a:solidFill>
                  <a:srgbClr val="DFF1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deleting on day one.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2026-08-06T17:39:20Z</dcterms:created>
  <dcterms:modified xsi:type="dcterms:W3CDTF">2026-08-06T17:39:20Z</dcterms:modified>
</cp:coreProperties>
</file>