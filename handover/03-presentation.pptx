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Handover of LandCare Assurance v1.0: what it is, why it exists, how to keep building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trigger was a completion rate nobody could reproduce, on an assignment universe with no ownership check.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bands: nightly ingestion, published application, approved evidence. Live ArcGIS is authoritative at page load.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prompt has four parts: context calling, the goal and metric contract, tool calls the agent must run, and repo-specific snippets. Paste them in that order.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app.css for the existing product, executive-bi.css for anything new. Tokens over components; page order is fixed.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Scope: an intake form and an export. Three stages, each with an acceptance test. Everything stays on ArcGIS.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Daily check, safe change path, drift guards, and the five open decisions.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0334F">
                  <a:alpha val="100000"/>
                </a:srgbClr>
              </a:gs>
              <a:gs pos="100000">
                <a:srgbClr val="0098D3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1047750" y="914400"/>
            <a:ext cx="609600" cy="609600"/>
          </a:xfrm>
          <a:prstGeom prst="roundRect">
            <a:avLst>
              <a:gd name="adj" fmla="val 21875"/>
            </a:avLst>
          </a:prstGeom>
          <a:solidFill>
            <a:srgbClr val="FFFFF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23950" y="99060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47850" y="1050131"/>
            <a:ext cx="8520090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34" kern="0" dirty="0">
                <a:solidFill>
                  <a:srgbClr val="FFFFFF">
                    <a:alpha val="85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URBAN REDEVELOPMENT AUTHORITY OF PITTSBURGH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1047750" y="3708350"/>
            <a:ext cx="1781175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16" kern="0" dirty="0">
                <a:solidFill>
                  <a:srgbClr val="9FE0F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INTERN PROJECT HANDOVER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047750" y="4284613"/>
            <a:ext cx="17811750" cy="1083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1739"/>
              </a:lnSpc>
              <a:buNone/>
            </a:pPr>
            <a:r>
              <a:rPr lang="en-US" sz="8400" b="1" spc="-294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LandCare Assurance</a:t>
            </a:r>
            <a:endParaRPr lang="en-US" sz="8400" dirty="0"/>
          </a:p>
        </p:txBody>
      </p:sp>
      <p:sp>
        <p:nvSpPr>
          <p:cNvPr id="8" name="Text 5"/>
          <p:cNvSpPr/>
          <p:nvPr/>
        </p:nvSpPr>
        <p:spPr>
          <a:xfrm>
            <a:off x="1047750" y="5596756"/>
            <a:ext cx="11772900" cy="10153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654"/>
              </a:lnSpc>
              <a:buNone/>
            </a:pPr>
            <a:r>
              <a:rPr lang="en-US" sz="2850" dirty="0">
                <a:solidFill>
                  <a:srgbClr val="E3F4F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For this service period, which assigned parcels were serviced, by whom, and with what evidence.</a:t>
            </a:r>
            <a:endParaRPr lang="en-US" sz="2850" dirty="0"/>
          </a:p>
        </p:txBody>
      </p:sp>
      <p:sp>
        <p:nvSpPr>
          <p:cNvPr id="9" name="Shape 6"/>
          <p:cNvSpPr/>
          <p:nvPr/>
        </p:nvSpPr>
        <p:spPr>
          <a:xfrm>
            <a:off x="1047750" y="8758238"/>
            <a:ext cx="16192500" cy="9525"/>
          </a:xfrm>
          <a:prstGeom prst="rect">
            <a:avLst/>
          </a:prstGeom>
          <a:solidFill>
            <a:srgbClr val="FFFFFF">
              <a:alpha val="28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1047750" y="9034463"/>
            <a:ext cx="3860631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CFEEF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ura-gis/land-care-assurance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5167015" y="9034463"/>
            <a:ext cx="4315911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CFEEF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/monitoring/ · /kpi/ · /contractor/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9700171" y="9034463"/>
            <a:ext cx="4350946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CFEEF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rutomo@ura.org (Rizaldy Utomo)</a:t>
            </a:r>
            <a:endParaRPr lang="en-US" sz="1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7250" y="590550"/>
            <a:ext cx="182308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198" kern="0" dirty="0">
                <a:solidFill>
                  <a:srgbClr val="006C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01 · PROBLEM CONTEXT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857250" y="971550"/>
            <a:ext cx="18230850" cy="601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4415"/>
              </a:lnSpc>
              <a:buNone/>
            </a:pPr>
            <a:r>
              <a:rPr lang="en-US" sz="4350" b="1" spc="-130" kern="0" dirty="0">
                <a:solidFill>
                  <a:srgbClr val="00334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Contractor Compliance and Monitoring was lagging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857250" y="1763613"/>
            <a:ext cx="5397475" cy="2474268"/>
          </a:xfrm>
          <a:prstGeom prst="roundRect">
            <a:avLst>
              <a:gd name="adj" fmla="val 6929"/>
            </a:avLst>
          </a:prstGeom>
          <a:solidFill>
            <a:srgbClr val="FFFFFF"/>
          </a:solidFill>
          <a:ln w="9525">
            <a:solidFill>
              <a:srgbClr val="E2EA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5375" y="1982688"/>
            <a:ext cx="5413348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20" kern="0" dirty="0">
                <a:solidFill>
                  <a:srgbClr val="C2410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TRIGGER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095375" y="2358926"/>
            <a:ext cx="4921225" cy="923925"/>
          </a:xfrm>
          <a:prstGeom prst="roundRect">
            <a:avLst>
              <a:gd name="adj" fmla="val 12371"/>
            </a:avLst>
          </a:prstGeom>
          <a:solidFill>
            <a:srgbClr val="FDF2EC"/>
          </a:solidFill>
          <a:ln w="9525">
            <a:solidFill>
              <a:srgbClr val="F3D6C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95400" y="2773263"/>
            <a:ext cx="125395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126" kern="0" dirty="0">
                <a:solidFill>
                  <a:srgbClr val="8A4A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REPORTED</a:t>
            </a:r>
            <a:endParaRPr lang="en-US" sz="1575" dirty="0"/>
          </a:p>
        </p:txBody>
      </p:sp>
      <p:sp>
        <p:nvSpPr>
          <p:cNvPr id="8" name="Text 6"/>
          <p:cNvSpPr/>
          <p:nvPr/>
        </p:nvSpPr>
        <p:spPr>
          <a:xfrm>
            <a:off x="4420567" y="2520851"/>
            <a:ext cx="1535609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spc="-103" kern="0" dirty="0">
                <a:solidFill>
                  <a:srgbClr val="C2410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~11.7%</a:t>
            </a:r>
            <a:endParaRPr lang="en-US" sz="3450" dirty="0"/>
          </a:p>
        </p:txBody>
      </p:sp>
      <p:sp>
        <p:nvSpPr>
          <p:cNvPr id="9" name="Text 7"/>
          <p:cNvSpPr/>
          <p:nvPr/>
        </p:nvSpPr>
        <p:spPr>
          <a:xfrm>
            <a:off x="1095375" y="3397151"/>
            <a:ext cx="5068862" cy="659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431"/>
              </a:lnSpc>
              <a:buNone/>
            </a:pPr>
            <a:r>
              <a:rPr lang="en-US" sz="1800" b="1" dirty="0">
                <a:solidFill>
                  <a:srgbClr val="00334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Blends Active and Request Only </a:t>
            </a:r>
            <a:pPr algn="l" indent="0" marL="0">
              <a:lnSpc>
                <a:spcPct val="100431"/>
              </a:lnSpc>
              <a:buNone/>
            </a:pPr>
            <a:r>
              <a:rPr lang="en-US" sz="1800" dirty="0">
                <a:solidFill>
                  <a:srgbClr val="00334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parcels, with no stated definition.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445225" y="1763613"/>
            <a:ext cx="5397475" cy="2474268"/>
          </a:xfrm>
          <a:prstGeom prst="roundRect">
            <a:avLst>
              <a:gd name="adj" fmla="val 6929"/>
            </a:avLst>
          </a:prstGeom>
          <a:solidFill>
            <a:srgbClr val="FFFFFF"/>
          </a:solidFill>
          <a:ln w="9525">
            <a:solidFill>
              <a:srgbClr val="E2EA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83350" y="1982688"/>
            <a:ext cx="5413348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20" kern="0" dirty="0">
                <a:solidFill>
                  <a:srgbClr val="006C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UNIVERSE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683350" y="2358926"/>
            <a:ext cx="4921225" cy="923925"/>
          </a:xfrm>
          <a:prstGeom prst="roundRect">
            <a:avLst>
              <a:gd name="adj" fmla="val 12371"/>
            </a:avLst>
          </a:prstGeom>
          <a:gradFill rotWithShape="1">
            <a:gsLst>
              <a:gs pos="0">
                <a:srgbClr val="00334F">
                  <a:alpha val="100000"/>
                </a:srgbClr>
              </a:gs>
              <a:gs pos="100000">
                <a:srgbClr val="0098D3">
                  <a:alpha val="100000"/>
                </a:srgbClr>
              </a:gs>
            </a:gsLst>
            <a:lin ang="2700000" scaled="0"/>
          </a:gradFill>
          <a:ln w="9525">
            <a:solidFill>
              <a:srgbClr val="00334F">
                <a:alpha val="2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83375" y="2773263"/>
            <a:ext cx="122158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126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ASSIGNED</a:t>
            </a:r>
            <a:endParaRPr lang="en-US" sz="1575" dirty="0"/>
          </a:p>
        </p:txBody>
      </p:sp>
      <p:sp>
        <p:nvSpPr>
          <p:cNvPr id="14" name="Text 12"/>
          <p:cNvSpPr/>
          <p:nvPr/>
        </p:nvSpPr>
        <p:spPr>
          <a:xfrm>
            <a:off x="10501015" y="2520851"/>
            <a:ext cx="979736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spc="-103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1,127</a:t>
            </a:r>
            <a:endParaRPr lang="en-US" sz="3450" dirty="0"/>
          </a:p>
        </p:txBody>
      </p:sp>
      <p:sp>
        <p:nvSpPr>
          <p:cNvPr id="15" name="Text 13"/>
          <p:cNvSpPr/>
          <p:nvPr/>
        </p:nvSpPr>
        <p:spPr>
          <a:xfrm>
            <a:off x="6683350" y="3397151"/>
            <a:ext cx="5068862" cy="659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431"/>
              </a:lnSpc>
              <a:buNone/>
            </a:pPr>
            <a:r>
              <a:rPr lang="en-US" sz="1800" dirty="0">
                <a:solidFill>
                  <a:srgbClr val="00334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From a tag filter with </a:t>
            </a:r>
            <a:pPr algn="l" indent="0" marL="0">
              <a:lnSpc>
                <a:spcPct val="100431"/>
              </a:lnSpc>
              <a:buNone/>
            </a:pPr>
            <a:r>
              <a:rPr lang="en-US" sz="1800" b="1" dirty="0">
                <a:solidFill>
                  <a:srgbClr val="00334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 ownership check </a:t>
            </a:r>
            <a:pPr algn="l" indent="0" marL="0">
              <a:lnSpc>
                <a:spcPct val="100431"/>
              </a:lnSpc>
              <a:buNone/>
            </a:pPr>
            <a:r>
              <a:rPr lang="en-US" sz="1800" dirty="0">
                <a:solidFill>
                  <a:srgbClr val="00334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— sold parcels stayed in the denominator.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2033200" y="1763613"/>
            <a:ext cx="5397550" cy="2474268"/>
          </a:xfrm>
          <a:prstGeom prst="roundRect">
            <a:avLst>
              <a:gd name="adj" fmla="val 6929"/>
            </a:avLst>
          </a:prstGeom>
          <a:solidFill>
            <a:srgbClr val="FFFFFF"/>
          </a:solidFill>
          <a:ln w="9525">
            <a:solidFill>
              <a:srgbClr val="E2EA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271325" y="1982688"/>
            <a:ext cx="541343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20" kern="0" dirty="0">
                <a:solidFill>
                  <a:srgbClr val="2E7D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AT STAKE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2271325" y="2358926"/>
            <a:ext cx="4921300" cy="923925"/>
          </a:xfrm>
          <a:prstGeom prst="roundRect">
            <a:avLst>
              <a:gd name="adj" fmla="val 12371"/>
            </a:avLst>
          </a:prstGeom>
          <a:solidFill>
            <a:srgbClr val="EEF6EE"/>
          </a:solidFill>
          <a:ln w="9525">
            <a:solidFill>
              <a:srgbClr val="CFE3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471350" y="2773263"/>
            <a:ext cx="18749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126" kern="0" dirty="0">
                <a:solidFill>
                  <a:srgbClr val="2E7D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ANNUAL SPEND</a:t>
            </a:r>
            <a:endParaRPr lang="en-US" sz="1575" dirty="0"/>
          </a:p>
        </p:txBody>
      </p:sp>
      <p:sp>
        <p:nvSpPr>
          <p:cNvPr id="20" name="Text 18"/>
          <p:cNvSpPr/>
          <p:nvPr/>
        </p:nvSpPr>
        <p:spPr>
          <a:xfrm>
            <a:off x="15800784" y="2520851"/>
            <a:ext cx="1268016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spc="-103" kern="0" dirty="0">
                <a:solidFill>
                  <a:srgbClr val="2E7D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$775k</a:t>
            </a:r>
            <a:endParaRPr lang="en-US" sz="3450" dirty="0"/>
          </a:p>
        </p:txBody>
      </p:sp>
      <p:sp>
        <p:nvSpPr>
          <p:cNvPr id="21" name="Text 19"/>
          <p:cNvSpPr/>
          <p:nvPr/>
        </p:nvSpPr>
        <p:spPr>
          <a:xfrm>
            <a:off x="12271325" y="3397151"/>
            <a:ext cx="5068939" cy="659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431"/>
              </a:lnSpc>
              <a:buNone/>
            </a:pPr>
            <a:r>
              <a:rPr lang="en-US" sz="1800" dirty="0">
                <a:solidFill>
                  <a:srgbClr val="00334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Spend judged against evidence that </a:t>
            </a:r>
            <a:pPr algn="l" indent="0" marL="0">
              <a:lnSpc>
                <a:spcPct val="100431"/>
              </a:lnSpc>
              <a:buNone/>
            </a:pPr>
            <a:r>
              <a:rPr lang="en-US" sz="1800" b="1" dirty="0">
                <a:solidFill>
                  <a:srgbClr val="00334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could not be traced to a parcel </a:t>
            </a:r>
            <a:pPr algn="l" indent="0" marL="0">
              <a:lnSpc>
                <a:spcPct val="100431"/>
              </a:lnSpc>
              <a:buNone/>
            </a:pPr>
            <a:r>
              <a:rPr lang="en-US" sz="1800" dirty="0">
                <a:solidFill>
                  <a:srgbClr val="00334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57250" y="4466481"/>
            <a:ext cx="8581504" cy="5229969"/>
          </a:xfrm>
          <a:prstGeom prst="roundRect">
            <a:avLst>
              <a:gd name="adj" fmla="val 3278"/>
            </a:avLst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857250" y="9686925"/>
            <a:ext cx="8581504" cy="9525"/>
          </a:xfrm>
          <a:prstGeom prst="rect">
            <a:avLst/>
          </a:prstGeom>
          <a:solidFill>
            <a:srgbClr val="E2EAEF"/>
          </a:solidFill>
          <a:ln/>
        </p:spPr>
      </p:sp>
      <p:sp>
        <p:nvSpPr>
          <p:cNvPr id="24" name="Shape 22"/>
          <p:cNvSpPr/>
          <p:nvPr/>
        </p:nvSpPr>
        <p:spPr>
          <a:xfrm>
            <a:off x="857250" y="4466481"/>
            <a:ext cx="8581504" cy="9525"/>
          </a:xfrm>
          <a:prstGeom prst="rect">
            <a:avLst/>
          </a:prstGeom>
          <a:solidFill>
            <a:srgbClr val="E2EAEF"/>
          </a:solidFill>
          <a:ln/>
        </p:spPr>
      </p:sp>
      <p:sp>
        <p:nvSpPr>
          <p:cNvPr id="25" name="Shape 23"/>
          <p:cNvSpPr/>
          <p:nvPr/>
        </p:nvSpPr>
        <p:spPr>
          <a:xfrm>
            <a:off x="857250" y="4466481"/>
            <a:ext cx="38100" cy="5229969"/>
          </a:xfrm>
          <a:prstGeom prst="rect">
            <a:avLst/>
          </a:prstGeom>
          <a:solidFill>
            <a:srgbClr val="00334F"/>
          </a:solidFill>
          <a:ln/>
        </p:spPr>
      </p:sp>
      <p:sp>
        <p:nvSpPr>
          <p:cNvPr id="26" name="Shape 24"/>
          <p:cNvSpPr/>
          <p:nvPr/>
        </p:nvSpPr>
        <p:spPr>
          <a:xfrm>
            <a:off x="9429229" y="4466481"/>
            <a:ext cx="9525" cy="5229969"/>
          </a:xfrm>
          <a:prstGeom prst="rect">
            <a:avLst/>
          </a:prstGeom>
          <a:solidFill>
            <a:srgbClr val="E2EAEF"/>
          </a:solidFill>
          <a:ln/>
        </p:spPr>
      </p:sp>
      <p:sp>
        <p:nvSpPr>
          <p:cNvPr id="27" name="Text 25"/>
          <p:cNvSpPr/>
          <p:nvPr/>
        </p:nvSpPr>
        <p:spPr>
          <a:xfrm>
            <a:off x="1181100" y="4723656"/>
            <a:ext cx="875861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165" kern="0" dirty="0">
                <a:solidFill>
                  <a:srgbClr val="006C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WHY I BUILT IT THIS WAY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1181100" y="5142756"/>
            <a:ext cx="8201250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941"/>
              </a:lnSpc>
              <a:buNone/>
            </a:pPr>
            <a:r>
              <a:rPr lang="en-US" sz="1875" b="1" dirty="0">
                <a:solidFill>
                  <a:srgbClr val="00334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Outside GIS control: </a:t>
            </a:r>
            <a:pPr algn="l" indent="0" marL="0">
              <a:lnSpc>
                <a:spcPct val="102941"/>
              </a:lnSpc>
              <a:buNone/>
            </a:pPr>
            <a:r>
              <a:rPr lang="en-US" sz="1875" dirty="0">
                <a:solidFill>
                  <a:srgbClr val="00334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contractor compliance, Regrid's interface, field capacity. </a:t>
            </a:r>
            <a:pPr algn="l" indent="0" marL="0">
              <a:lnSpc>
                <a:spcPct val="102941"/>
              </a:lnSpc>
              <a:buNone/>
            </a:pPr>
            <a:r>
              <a:rPr lang="en-US" sz="1875" b="1" dirty="0">
                <a:solidFill>
                  <a:srgbClr val="00334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Inside: </a:t>
            </a:r>
            <a:pPr algn="l" indent="0" marL="0">
              <a:lnSpc>
                <a:spcPct val="102941"/>
              </a:lnSpc>
              <a:buNone/>
            </a:pPr>
            <a:r>
              <a:rPr lang="en-US" sz="1875" dirty="0">
                <a:solidFill>
                  <a:srgbClr val="00334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assignment query, the schemas, the metric definition, the published app.</a:t>
            </a:r>
            <a:endParaRPr lang="en-US" sz="1875" dirty="0"/>
          </a:p>
        </p:txBody>
      </p:sp>
      <p:sp>
        <p:nvSpPr>
          <p:cNvPr id="29" name="Text 27"/>
          <p:cNvSpPr/>
          <p:nvPr/>
        </p:nvSpPr>
        <p:spPr>
          <a:xfrm>
            <a:off x="1181100" y="6609606"/>
            <a:ext cx="820125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941"/>
              </a:lnSpc>
              <a:buNone/>
            </a:pPr>
            <a:r>
              <a:rPr lang="en-US" sz="1875" b="1" dirty="0">
                <a:solidFill>
                  <a:srgbClr val="00334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map gives leadership something to act on </a:t>
            </a:r>
            <a:pPr algn="l" indent="0" marL="0">
              <a:lnSpc>
                <a:spcPct val="102941"/>
              </a:lnSpc>
              <a:buNone/>
            </a:pPr>
            <a:r>
              <a:rPr lang="en-US" sz="1875" dirty="0">
                <a:solidFill>
                  <a:srgbClr val="00334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that a percentage cannot.</a:t>
            </a:r>
            <a:endParaRPr lang="en-US" sz="1875" dirty="0"/>
          </a:p>
        </p:txBody>
      </p:sp>
      <p:sp>
        <p:nvSpPr>
          <p:cNvPr id="30" name="Shape 28"/>
          <p:cNvSpPr/>
          <p:nvPr/>
        </p:nvSpPr>
        <p:spPr>
          <a:xfrm>
            <a:off x="9629254" y="4466481"/>
            <a:ext cx="7801496" cy="5229969"/>
          </a:xfrm>
          <a:prstGeom prst="roundRect">
            <a:avLst>
              <a:gd name="adj" fmla="val 3278"/>
            </a:avLst>
          </a:prstGeom>
          <a:solidFill>
            <a:srgbClr val="FFFFFF"/>
          </a:solidFill>
          <a:ln w="9525">
            <a:solidFill>
              <a:srgbClr val="E2EAE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924529" y="4723656"/>
            <a:ext cx="793204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165" kern="0" dirty="0">
                <a:solidFill>
                  <a:srgbClr val="006C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WHAT V1.0 DELIVERS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9924529" y="5228481"/>
            <a:ext cx="123825" cy="123825"/>
          </a:xfrm>
          <a:prstGeom prst="ellipse">
            <a:avLst/>
          </a:prstGeom>
          <a:solidFill>
            <a:srgbClr val="0098D3"/>
          </a:solidFill>
          <a:ln/>
        </p:spPr>
      </p:sp>
      <p:sp>
        <p:nvSpPr>
          <p:cNvPr id="33" name="Text 31"/>
          <p:cNvSpPr/>
          <p:nvPr/>
        </p:nvSpPr>
        <p:spPr>
          <a:xfrm>
            <a:off x="10181704" y="5142756"/>
            <a:ext cx="7366828" cy="3398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477"/>
              </a:lnSpc>
              <a:buNone/>
            </a:pPr>
            <a:r>
              <a:rPr lang="en-US" sz="1800" b="1" dirty="0">
                <a:solidFill>
                  <a:srgbClr val="00334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Map Monitor — evidence displayed at the assignment polygon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9924529" y="5644530"/>
            <a:ext cx="123825" cy="123825"/>
          </a:xfrm>
          <a:prstGeom prst="ellipse">
            <a:avLst/>
          </a:prstGeom>
          <a:solidFill>
            <a:srgbClr val="006C9F"/>
          </a:solidFill>
          <a:ln/>
        </p:spPr>
      </p:sp>
      <p:sp>
        <p:nvSpPr>
          <p:cNvPr id="35" name="Text 33"/>
          <p:cNvSpPr/>
          <p:nvPr/>
        </p:nvSpPr>
        <p:spPr>
          <a:xfrm>
            <a:off x="10181704" y="5558805"/>
            <a:ext cx="7162384" cy="6415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477"/>
              </a:lnSpc>
              <a:buNone/>
            </a:pPr>
            <a:r>
              <a:rPr lang="en-US" sz="1800" b="1" dirty="0">
                <a:solidFill>
                  <a:srgbClr val="00334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KPI Dashboard — completion, budget, contractor exposure by period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9924529" y="6362328"/>
            <a:ext cx="123825" cy="123825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37" name="Text 35"/>
          <p:cNvSpPr/>
          <p:nvPr/>
        </p:nvSpPr>
        <p:spPr>
          <a:xfrm>
            <a:off x="10181704" y="6276603"/>
            <a:ext cx="7162384" cy="6415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477"/>
              </a:lnSpc>
              <a:buNone/>
            </a:pPr>
            <a:r>
              <a:rPr lang="en-US" sz="1800" b="1" dirty="0">
                <a:solidFill>
                  <a:srgbClr val="00334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Contractor portal — pick a parcel on the map or list, submit prefilled evidence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9924529" y="7080126"/>
            <a:ext cx="123825" cy="123825"/>
          </a:xfrm>
          <a:prstGeom prst="ellipse">
            <a:avLst/>
          </a:prstGeom>
          <a:solidFill>
            <a:srgbClr val="F0C24B"/>
          </a:solidFill>
          <a:ln/>
        </p:spPr>
      </p:sp>
      <p:sp>
        <p:nvSpPr>
          <p:cNvPr id="39" name="Text 37"/>
          <p:cNvSpPr/>
          <p:nvPr/>
        </p:nvSpPr>
        <p:spPr>
          <a:xfrm>
            <a:off x="10181704" y="6994401"/>
            <a:ext cx="7162384" cy="6415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477"/>
              </a:lnSpc>
              <a:buNone/>
            </a:pPr>
            <a:r>
              <a:rPr lang="en-US" sz="1800" b="1" dirty="0">
                <a:solidFill>
                  <a:srgbClr val="00334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stated metric — period, denominator, source, and freshness on every number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28650"/>
            <a:ext cx="1138887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198" kern="0" dirty="0">
                <a:solidFill>
                  <a:srgbClr val="006C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02 · SYSTEM ARCHITECTURE AND DATA FLOW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762000" y="990600"/>
            <a:ext cx="11388879" cy="601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4415"/>
              </a:lnSpc>
              <a:buNone/>
            </a:pPr>
            <a:r>
              <a:rPr lang="en-US" sz="4350" b="1" spc="-130" kern="0" dirty="0">
                <a:solidFill>
                  <a:srgbClr val="00334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Nightly ingestion, live query at page load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14168347" y="936873"/>
            <a:ext cx="3357653" cy="65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99692"/>
              </a:lnSpc>
              <a:buNone/>
            </a:pPr>
            <a:r>
              <a:rPr lang="en-US" sz="1800" b="1" dirty="0">
                <a:solidFill>
                  <a:srgbClr val="5B738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Period: the 15th of one month through the 14th of the next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62000" y="1801713"/>
            <a:ext cx="16764000" cy="6013847"/>
          </a:xfrm>
          <a:prstGeom prst="roundRect">
            <a:avLst>
              <a:gd name="adj" fmla="val 2851"/>
            </a:avLst>
          </a:prstGeom>
          <a:solidFill>
            <a:srgbClr val="F7FAFC"/>
          </a:solidFill>
          <a:ln w="9525">
            <a:solidFill>
              <a:srgbClr val="E2EAE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-30951" r="-30951" t="0" b="0"/>
          <a:stretch/>
        </p:blipFill>
        <p:spPr>
          <a:xfrm>
            <a:off x="904875" y="1944588"/>
            <a:ext cx="16478250" cy="572809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62000" y="8063210"/>
            <a:ext cx="5460950" cy="1595140"/>
          </a:xfrm>
          <a:prstGeom prst="roundRect">
            <a:avLst>
              <a:gd name="adj" fmla="val 9554"/>
            </a:avLst>
          </a:prstGeom>
          <a:solidFill>
            <a:srgbClr val="FFFFFF"/>
          </a:solidFill>
          <a:ln w="9525">
            <a:solidFill>
              <a:srgbClr val="E2EA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0125" y="8244185"/>
            <a:ext cx="548317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114" kern="0" dirty="0">
                <a:solidFill>
                  <a:srgbClr val="006C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OWNERSHIP SPLIT</a:t>
            </a:r>
            <a:endParaRPr lang="en-US" sz="1425" dirty="0"/>
          </a:p>
        </p:txBody>
      </p:sp>
      <p:sp>
        <p:nvSpPr>
          <p:cNvPr id="9" name="Text 6"/>
          <p:cNvSpPr/>
          <p:nvPr/>
        </p:nvSpPr>
        <p:spPr>
          <a:xfrm>
            <a:off x="1000125" y="8558510"/>
            <a:ext cx="5134241" cy="956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954"/>
              </a:lnSpc>
              <a:buNone/>
            </a:pPr>
            <a:r>
              <a:rPr lang="en-US" sz="1800" b="1" dirty="0">
                <a:solidFill>
                  <a:srgbClr val="00334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GIS and data operations </a:t>
            </a:r>
            <a:pPr algn="l" indent="0" marL="0">
              <a:lnSpc>
                <a:spcPct val="98954"/>
              </a:lnSpc>
              <a:buNone/>
            </a:pPr>
            <a:r>
              <a:rPr lang="en-US" sz="1800" dirty="0">
                <a:solidFill>
                  <a:srgbClr val="00334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own ingestion and store. </a:t>
            </a:r>
            <a:pPr algn="l" indent="0" marL="0">
              <a:lnSpc>
                <a:spcPct val="98954"/>
              </a:lnSpc>
              <a:buNone/>
            </a:pPr>
            <a:r>
              <a:rPr lang="en-US" sz="1800" b="1" dirty="0">
                <a:solidFill>
                  <a:srgbClr val="00334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Web and dashboard owner </a:t>
            </a:r>
            <a:pPr algn="l" indent="0" marL="0">
              <a:lnSpc>
                <a:spcPct val="98954"/>
              </a:lnSpc>
              <a:buNone/>
            </a:pPr>
            <a:r>
              <a:rPr lang="en-US" sz="1800" dirty="0">
                <a:solidFill>
                  <a:srgbClr val="00334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owns publish and application.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413450" y="8063210"/>
            <a:ext cx="5461025" cy="1595140"/>
          </a:xfrm>
          <a:prstGeom prst="roundRect">
            <a:avLst>
              <a:gd name="adj" fmla="val 9554"/>
            </a:avLst>
          </a:prstGeom>
          <a:solidFill>
            <a:srgbClr val="FFFFFF"/>
          </a:solidFill>
          <a:ln w="9525">
            <a:solidFill>
              <a:srgbClr val="E2EAE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651575" y="8244185"/>
            <a:ext cx="548325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114" kern="0" dirty="0">
                <a:solidFill>
                  <a:srgbClr val="00334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ADAPTER BOUNDARY</a:t>
            </a:r>
            <a:endParaRPr lang="en-US" sz="1425" dirty="0"/>
          </a:p>
        </p:txBody>
      </p:sp>
      <p:sp>
        <p:nvSpPr>
          <p:cNvPr id="12" name="Text 9"/>
          <p:cNvSpPr/>
          <p:nvPr/>
        </p:nvSpPr>
        <p:spPr>
          <a:xfrm>
            <a:off x="6651575" y="8558510"/>
            <a:ext cx="5134318" cy="956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954"/>
              </a:lnSpc>
              <a:buNone/>
            </a:pPr>
            <a:r>
              <a:rPr lang="en-US" sz="1800" b="1" dirty="0">
                <a:solidFill>
                  <a:srgbClr val="00334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survey-layer.js </a:t>
            </a:r>
            <a:pPr algn="l" indent="0" marL="0">
              <a:lnSpc>
                <a:spcPct val="98954"/>
              </a:lnSpc>
              <a:buNone/>
            </a:pPr>
            <a:r>
              <a:rPr lang="en-US" sz="1800" dirty="0">
                <a:solidFill>
                  <a:srgbClr val="00334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and </a:t>
            </a:r>
            <a:pPr algn="l" indent="0" marL="0">
              <a:lnSpc>
                <a:spcPct val="98954"/>
              </a:lnSpc>
              <a:buNone/>
            </a:pPr>
            <a:r>
              <a:rPr lang="en-US" sz="1800" b="1" dirty="0">
                <a:solidFill>
                  <a:srgbClr val="00334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assignment-layer.js </a:t>
            </a:r>
            <a:pPr algn="l" indent="0" marL="0">
              <a:lnSpc>
                <a:spcPct val="98954"/>
              </a:lnSpc>
              <a:buNone/>
            </a:pPr>
            <a:r>
              <a:rPr lang="en-US" sz="1800" dirty="0">
                <a:solidFill>
                  <a:srgbClr val="00334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absorb every ArcGIS field rename. </a:t>
            </a:r>
            <a:pPr algn="l" indent="0" marL="0">
              <a:lnSpc>
                <a:spcPct val="98954"/>
              </a:lnSpc>
              <a:buNone/>
            </a:pPr>
            <a:r>
              <a:rPr lang="en-US" sz="1800" b="1" dirty="0">
                <a:solidFill>
                  <a:srgbClr val="00334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Endpoints live nowhere else.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12064975" y="8063210"/>
            <a:ext cx="5460950" cy="1595140"/>
          </a:xfrm>
          <a:prstGeom prst="roundRect">
            <a:avLst>
              <a:gd name="adj" fmla="val 9554"/>
            </a:avLst>
          </a:prstGeom>
          <a:solidFill>
            <a:srgbClr val="FFFFFF"/>
          </a:solidFill>
          <a:ln w="9525">
            <a:solidFill>
              <a:srgbClr val="E2EAE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2303100" y="8244185"/>
            <a:ext cx="548317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114" kern="0" dirty="0">
                <a:solidFill>
                  <a:srgbClr val="C2410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DAILY CHECK</a:t>
            </a:r>
            <a:endParaRPr lang="en-US" sz="1425" dirty="0"/>
          </a:p>
        </p:txBody>
      </p:sp>
      <p:sp>
        <p:nvSpPr>
          <p:cNvPr id="15" name="Text 12"/>
          <p:cNvSpPr/>
          <p:nvPr/>
        </p:nvSpPr>
        <p:spPr>
          <a:xfrm>
            <a:off x="12303100" y="8558510"/>
            <a:ext cx="5134241" cy="956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954"/>
              </a:lnSpc>
              <a:buNone/>
            </a:pPr>
            <a:r>
              <a:rPr lang="en-US" sz="1800" dirty="0">
                <a:solidFill>
                  <a:srgbClr val="00334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4:00 AM upstream ran · 7:00 AM status </a:t>
            </a:r>
            <a:pPr algn="l" indent="0" marL="0">
              <a:lnSpc>
                <a:spcPct val="98954"/>
              </a:lnSpc>
              <a:buNone/>
            </a:pPr>
            <a:r>
              <a:rPr lang="en-US" sz="1800" b="1" dirty="0">
                <a:solidFill>
                  <a:srgbClr val="00334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success </a:t>
            </a:r>
            <a:pPr algn="l" indent="0" marL="0">
              <a:lnSpc>
                <a:spcPct val="98954"/>
              </a:lnSpc>
              <a:buNone/>
            </a:pPr>
            <a:r>
              <a:rPr lang="en-US" sz="1800" dirty="0">
                <a:solidFill>
                  <a:srgbClr val="00334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· Pages workflow green. </a:t>
            </a:r>
            <a:pPr algn="l" indent="0" marL="0">
              <a:lnSpc>
                <a:spcPct val="98954"/>
              </a:lnSpc>
              <a:buNone/>
            </a:pPr>
            <a:r>
              <a:rPr lang="en-US" sz="1800" b="1" dirty="0">
                <a:solidFill>
                  <a:srgbClr val="00334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red workflow is a data-contract failure.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90550"/>
            <a:ext cx="765070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198" kern="0" dirty="0">
                <a:solidFill>
                  <a:srgbClr val="006C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03 · BUILDING AND ITERATING WITH CODEX AND CLAUDE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762000" y="952500"/>
            <a:ext cx="7650703" cy="582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4667"/>
              </a:lnSpc>
              <a:buNone/>
            </a:pPr>
            <a:r>
              <a:rPr lang="en-US" sz="4200" b="1" spc="-126" kern="0" dirty="0">
                <a:solidFill>
                  <a:srgbClr val="00334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Four blocks in every prompt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2495833" y="641226"/>
            <a:ext cx="5030167" cy="855315"/>
          </a:xfrm>
          <a:prstGeom prst="roundRect">
            <a:avLst>
              <a:gd name="adj" fmla="val 17818"/>
            </a:avLst>
          </a:prstGeom>
          <a:solidFill>
            <a:srgbClr val="FFFFFF"/>
          </a:solidFill>
          <a:ln w="9525">
            <a:solidFill>
              <a:srgbClr val="E2EA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564003" y="784101"/>
            <a:ext cx="4742922" cy="607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94921"/>
              </a:lnSpc>
              <a:buNone/>
            </a:pPr>
            <a:r>
              <a:rPr lang="en-US" sz="1725" b="1" dirty="0">
                <a:solidFill>
                  <a:srgbClr val="35566B"/>
                </a:solidFill>
                <a:highlight>
                  <a:srgbClr val="FFFFFF"/>
                </a:highlight>
                <a:latin typeface="Manrope" pitchFamily="34" charset="0"/>
                <a:ea typeface="Manrope" pitchFamily="34" charset="-122"/>
                <a:cs typeface="Manrope" pitchFamily="34" charset="-120"/>
              </a:rPr>
              <a:t>AGENTS.md is read automatically by Codex. Keep it current.</a:t>
            </a:r>
            <a:endParaRPr lang="en-US" sz="1725" dirty="0"/>
          </a:p>
        </p:txBody>
      </p:sp>
      <p:sp>
        <p:nvSpPr>
          <p:cNvPr id="6" name="Shape 4"/>
          <p:cNvSpPr/>
          <p:nvPr/>
        </p:nvSpPr>
        <p:spPr>
          <a:xfrm>
            <a:off x="762000" y="1706091"/>
            <a:ext cx="8305800" cy="3361730"/>
          </a:xfrm>
          <a:prstGeom prst="roundRect">
            <a:avLst>
              <a:gd name="adj" fmla="val 5100"/>
            </a:avLst>
          </a:prstGeom>
          <a:solidFill>
            <a:srgbClr val="FFFFFF"/>
          </a:solidFill>
          <a:ln w="9525">
            <a:solidFill>
              <a:srgbClr val="E2EA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0125" y="1887066"/>
            <a:ext cx="245418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098D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83643" y="1925166"/>
            <a:ext cx="538183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132" kern="0" dirty="0">
                <a:solidFill>
                  <a:srgbClr val="006C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CONTEXT CALLING — FILES TO READ FIRST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1000125" y="2301404"/>
            <a:ext cx="7829550" cy="1028700"/>
          </a:xfrm>
          <a:prstGeom prst="roundRect">
            <a:avLst>
              <a:gd name="adj" fmla="val 11111"/>
            </a:avLst>
          </a:prstGeom>
          <a:solidFill>
            <a:srgbClr val="F7FAFC"/>
          </a:solidFill>
          <a:ln/>
        </p:spPr>
      </p:sp>
      <p:sp>
        <p:nvSpPr>
          <p:cNvPr id="10" name="Text 8"/>
          <p:cNvSpPr/>
          <p:nvPr/>
        </p:nvSpPr>
        <p:spPr>
          <a:xfrm>
            <a:off x="1133475" y="2415704"/>
            <a:ext cx="7797737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1500" dirty="0">
                <a:solidFill>
                  <a:srgbClr val="0033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 AGENTS.md, HANDOVER.md,</a:t>
            </a:r>
            <a:endParaRPr lang="en-US" sz="1500" dirty="0"/>
          </a:p>
          <a:p>
            <a:pPr algn="l" indent="0" marL="0">
              <a:lnSpc>
                <a:spcPct val="124444"/>
              </a:lnSpc>
              <a:buNone/>
            </a:pPr>
            <a:r>
              <a:rPr lang="en-US" sz="1500" dirty="0">
                <a:solidFill>
                  <a:srgbClr val="0033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docs/landcare-architecture.md,</a:t>
            </a:r>
            <a:endParaRPr lang="en-US" sz="1500" dirty="0"/>
          </a:p>
          <a:p>
            <a:pPr algn="l" indent="0" marL="0">
              <a:lnSpc>
                <a:spcPct val="124444"/>
              </a:lnSpc>
              <a:buNone/>
            </a:pPr>
            <a:r>
              <a:rPr lang="en-US" sz="1500" dirty="0">
                <a:solidFill>
                  <a:srgbClr val="0033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docs/landcare-metrics-context.md first.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00125" y="3406304"/>
            <a:ext cx="8612505" cy="2981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138"/>
              </a:lnSpc>
              <a:buNone/>
            </a:pPr>
            <a:r>
              <a:rPr lang="en-US" sz="1575" b="1" dirty="0">
                <a:solidFill>
                  <a:srgbClr val="00334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Inherits the source-of-truth and change rules </a:t>
            </a:r>
            <a:pPr algn="l" indent="0" marL="0">
              <a:lnSpc>
                <a:spcPct val="94138"/>
              </a:lnSpc>
              <a:buNone/>
            </a:pPr>
            <a:r>
              <a:rPr lang="en-US" sz="1575" dirty="0">
                <a:solidFill>
                  <a:srgbClr val="00334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before the agent plans anything.</a:t>
            </a:r>
            <a:endParaRPr lang="en-US" sz="1575" dirty="0"/>
          </a:p>
        </p:txBody>
      </p:sp>
      <p:sp>
        <p:nvSpPr>
          <p:cNvPr id="12" name="Shape 10"/>
          <p:cNvSpPr/>
          <p:nvPr/>
        </p:nvSpPr>
        <p:spPr>
          <a:xfrm>
            <a:off x="9220200" y="1706091"/>
            <a:ext cx="8305800" cy="3361730"/>
          </a:xfrm>
          <a:prstGeom prst="roundRect">
            <a:avLst>
              <a:gd name="adj" fmla="val 5100"/>
            </a:avLst>
          </a:prstGeom>
          <a:solidFill>
            <a:srgbClr val="FFFFFF"/>
          </a:solidFill>
          <a:ln w="9525">
            <a:solidFill>
              <a:srgbClr val="E2EA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58325" y="1887066"/>
            <a:ext cx="233958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0334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9730383" y="1925166"/>
            <a:ext cx="551534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132" kern="0" dirty="0">
                <a:solidFill>
                  <a:srgbClr val="006C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CONTRACT — GOAL, SOURCE, METRIC RULE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9458325" y="2301404"/>
            <a:ext cx="7829550" cy="1562100"/>
          </a:xfrm>
          <a:prstGeom prst="roundRect">
            <a:avLst>
              <a:gd name="adj" fmla="val 7317"/>
            </a:avLst>
          </a:prstGeom>
          <a:solidFill>
            <a:srgbClr val="F7FAFC"/>
          </a:solidFill>
          <a:ln/>
        </p:spPr>
      </p:sp>
      <p:sp>
        <p:nvSpPr>
          <p:cNvPr id="16" name="Text 14"/>
          <p:cNvSpPr/>
          <p:nvPr/>
        </p:nvSpPr>
        <p:spPr>
          <a:xfrm>
            <a:off x="9591675" y="2415704"/>
            <a:ext cx="7797737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1500" dirty="0">
                <a:solidFill>
                  <a:srgbClr val="0033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Goal: [outcome and which page it affects].</a:t>
            </a:r>
            <a:endParaRPr lang="en-US" sz="1500" dirty="0"/>
          </a:p>
          <a:p>
            <a:pPr algn="l" indent="0" marL="0">
              <a:lnSpc>
                <a:spcPct val="124444"/>
              </a:lnSpc>
              <a:buNone/>
            </a:pPr>
            <a:r>
              <a:rPr lang="en-US" sz="1500" dirty="0">
                <a:solidFill>
                  <a:srgbClr val="0033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Source: [ArcGIS item, table, published JSON].</a:t>
            </a:r>
            <a:endParaRPr lang="en-US" sz="1500" dirty="0"/>
          </a:p>
          <a:p>
            <a:pPr algn="l" indent="0" marL="0">
              <a:lnSpc>
                <a:spcPct val="124444"/>
              </a:lnSpc>
              <a:buNone/>
            </a:pPr>
            <a:r>
              <a:rPr lang="en-US" sz="1500" dirty="0">
                <a:solidFill>
                  <a:srgbClr val="0033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Metric rule: completion uses raw assignment-</a:t>
            </a:r>
            <a:endParaRPr lang="en-US" sz="1500" dirty="0"/>
          </a:p>
          <a:p>
            <a:pPr algn="l" indent="0" marL="0">
              <a:lnSpc>
                <a:spcPct val="124444"/>
              </a:lnSpc>
              <a:buNone/>
            </a:pPr>
            <a:r>
              <a:rPr lang="en-US" sz="1500" dirty="0">
                <a:solidFill>
                  <a:srgbClr val="0033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matched survey records over Active assigned;</a:t>
            </a:r>
            <a:endParaRPr lang="en-US" sz="1500" dirty="0"/>
          </a:p>
          <a:p>
            <a:pPr algn="l" indent="0" marL="0">
              <a:lnSpc>
                <a:spcPct val="124444"/>
              </a:lnSpc>
              <a:buNone/>
            </a:pPr>
            <a:r>
              <a:rPr lang="en-US" sz="1500" dirty="0">
                <a:solidFill>
                  <a:srgbClr val="0033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 Only is excluded.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62000" y="5220221"/>
            <a:ext cx="8305800" cy="3361804"/>
          </a:xfrm>
          <a:prstGeom prst="roundRect">
            <a:avLst>
              <a:gd name="adj" fmla="val 5100"/>
            </a:avLst>
          </a:prstGeom>
          <a:solidFill>
            <a:srgbClr val="FFFFFF"/>
          </a:solidFill>
          <a:ln w="9525">
            <a:solidFill>
              <a:srgbClr val="E2EA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0125" y="5401196"/>
            <a:ext cx="260970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E7D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299195" y="5439296"/>
            <a:ext cx="551697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132" kern="0" dirty="0">
                <a:solidFill>
                  <a:srgbClr val="006C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TOOL CALLS — WHAT THE AGENT MUST RUN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000125" y="5815533"/>
            <a:ext cx="7829550" cy="1295400"/>
          </a:xfrm>
          <a:prstGeom prst="roundRect">
            <a:avLst>
              <a:gd name="adj" fmla="val 8824"/>
            </a:avLst>
          </a:prstGeom>
          <a:solidFill>
            <a:srgbClr val="F7FAFC"/>
          </a:solidFill>
          <a:ln/>
        </p:spPr>
      </p:sp>
      <p:sp>
        <p:nvSpPr>
          <p:cNvPr id="21" name="Text 19"/>
          <p:cNvSpPr/>
          <p:nvPr/>
        </p:nvSpPr>
        <p:spPr>
          <a:xfrm>
            <a:off x="1133475" y="5929833"/>
            <a:ext cx="7797737" cy="1104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1500" dirty="0">
                <a:solidFill>
                  <a:srgbClr val="0033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unittest discover -s tests</a:t>
            </a:r>
            <a:endParaRPr lang="en-US" sz="1500" dirty="0"/>
          </a:p>
          <a:p>
            <a:pPr algn="l" indent="0" marL="0">
              <a:lnSpc>
                <a:spcPct val="124444"/>
              </a:lnSpc>
              <a:buNone/>
            </a:pPr>
            <a:r>
              <a:rPr lang="en-US" sz="1500" dirty="0">
                <a:solidFill>
                  <a:srgbClr val="0033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--test tests/survey-layer.test.mjs</a:t>
            </a:r>
            <a:endParaRPr lang="en-US" sz="1500" dirty="0"/>
          </a:p>
          <a:p>
            <a:pPr algn="l" indent="0" marL="0">
              <a:lnSpc>
                <a:spcPct val="124444"/>
              </a:lnSpc>
              <a:buNone/>
            </a:pPr>
            <a:r>
              <a:rPr lang="en-US" sz="1500" dirty="0">
                <a:solidFill>
                  <a:srgbClr val="0033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Pages validation checks</a:t>
            </a:r>
            <a:endParaRPr lang="en-US" sz="1500" dirty="0"/>
          </a:p>
          <a:p>
            <a:pPr algn="l" indent="0" marL="0">
              <a:lnSpc>
                <a:spcPct val="124444"/>
              </a:lnSpc>
              <a:buNone/>
            </a:pPr>
            <a:r>
              <a:rPr lang="en-US" sz="1500" dirty="0">
                <a:solidFill>
                  <a:srgbClr val="0033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Read-only ArcGIS smoke test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1000125" y="7187133"/>
            <a:ext cx="1202680" cy="375270"/>
          </a:xfrm>
          <a:prstGeom prst="roundRect">
            <a:avLst>
              <a:gd name="adj" fmla="val 50000"/>
            </a:avLst>
          </a:prstGeom>
          <a:ln w="19050">
            <a:solidFill>
              <a:srgbClr val="2E7D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33475" y="7234758"/>
            <a:ext cx="1012180" cy="31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379"/>
              </a:lnSpc>
              <a:buNone/>
            </a:pPr>
            <a:r>
              <a:rPr lang="en-US" sz="1575" b="1" dirty="0">
                <a:solidFill>
                  <a:srgbClr val="2E7D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@chrome</a:t>
            </a:r>
            <a:endParaRPr lang="en-US" sz="1575" dirty="0"/>
          </a:p>
        </p:txBody>
      </p:sp>
      <p:sp>
        <p:nvSpPr>
          <p:cNvPr id="24" name="Text 22"/>
          <p:cNvSpPr/>
          <p:nvPr/>
        </p:nvSpPr>
        <p:spPr>
          <a:xfrm>
            <a:off x="2298055" y="7234758"/>
            <a:ext cx="4078367" cy="31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379"/>
              </a:lnSpc>
              <a:buNone/>
            </a:pPr>
            <a:r>
              <a:rPr lang="en-US" sz="1575" dirty="0">
                <a:solidFill>
                  <a:srgbClr val="00334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read the live route, its map and console</a:t>
            </a:r>
            <a:endParaRPr lang="en-US" sz="1575" dirty="0"/>
          </a:p>
        </p:txBody>
      </p:sp>
      <p:sp>
        <p:nvSpPr>
          <p:cNvPr id="25" name="Shape 23"/>
          <p:cNvSpPr/>
          <p:nvPr/>
        </p:nvSpPr>
        <p:spPr>
          <a:xfrm>
            <a:off x="1000125" y="7619554"/>
            <a:ext cx="1626096" cy="375270"/>
          </a:xfrm>
          <a:prstGeom prst="roundRect">
            <a:avLst>
              <a:gd name="adj" fmla="val 50000"/>
            </a:avLst>
          </a:prstGeom>
          <a:ln w="19050">
            <a:solidFill>
              <a:srgbClr val="2E7D3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33475" y="7667179"/>
            <a:ext cx="1435596" cy="31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379"/>
              </a:lnSpc>
              <a:buNone/>
            </a:pPr>
            <a:r>
              <a:rPr lang="en-US" sz="1575" b="1" dirty="0">
                <a:solidFill>
                  <a:srgbClr val="2E7D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computer use</a:t>
            </a:r>
            <a:endParaRPr lang="en-US" sz="1575" dirty="0"/>
          </a:p>
        </p:txBody>
      </p:sp>
      <p:sp>
        <p:nvSpPr>
          <p:cNvPr id="27" name="Text 25"/>
          <p:cNvSpPr/>
          <p:nvPr/>
        </p:nvSpPr>
        <p:spPr>
          <a:xfrm>
            <a:off x="2721471" y="7667179"/>
            <a:ext cx="4545270" cy="31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379"/>
              </a:lnSpc>
              <a:buNone/>
            </a:pPr>
            <a:r>
              <a:rPr lang="en-US" sz="1575" dirty="0">
                <a:solidFill>
                  <a:srgbClr val="00334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drive the contractor flow, confirm the prefill</a:t>
            </a:r>
            <a:endParaRPr lang="en-US" sz="1575" dirty="0"/>
          </a:p>
        </p:txBody>
      </p:sp>
      <p:sp>
        <p:nvSpPr>
          <p:cNvPr id="28" name="Text 26"/>
          <p:cNvSpPr/>
          <p:nvPr/>
        </p:nvSpPr>
        <p:spPr>
          <a:xfrm>
            <a:off x="1000125" y="8071024"/>
            <a:ext cx="8612505" cy="2981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138"/>
              </a:lnSpc>
              <a:buNone/>
            </a:pPr>
            <a:r>
              <a:rPr lang="en-US" sz="1575" dirty="0">
                <a:solidFill>
                  <a:srgbClr val="00334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Name the tool in the prompt. Report result, evidence, and rollback before commit.</a:t>
            </a:r>
            <a:endParaRPr lang="en-US" sz="1575" dirty="0"/>
          </a:p>
        </p:txBody>
      </p:sp>
      <p:sp>
        <p:nvSpPr>
          <p:cNvPr id="29" name="Shape 27"/>
          <p:cNvSpPr/>
          <p:nvPr/>
        </p:nvSpPr>
        <p:spPr>
          <a:xfrm>
            <a:off x="9220200" y="5220221"/>
            <a:ext cx="8305800" cy="3361804"/>
          </a:xfrm>
          <a:prstGeom prst="roundRect">
            <a:avLst>
              <a:gd name="adj" fmla="val 5100"/>
            </a:avLst>
          </a:prstGeom>
          <a:solidFill>
            <a:srgbClr val="FFFFFF"/>
          </a:solidFill>
          <a:ln w="9525">
            <a:solidFill>
              <a:srgbClr val="E2EA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458325" y="5401196"/>
            <a:ext cx="252040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C2410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</a:t>
            </a:r>
            <a:endParaRPr lang="en-US" sz="1950" dirty="0"/>
          </a:p>
        </p:txBody>
      </p:sp>
      <p:sp>
        <p:nvSpPr>
          <p:cNvPr id="31" name="Text 29"/>
          <p:cNvSpPr/>
          <p:nvPr/>
        </p:nvSpPr>
        <p:spPr>
          <a:xfrm>
            <a:off x="9748465" y="5439296"/>
            <a:ext cx="532011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132" kern="0" dirty="0">
                <a:solidFill>
                  <a:srgbClr val="006C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CUSTOM SNIPPETS — ADD PER TASK TYPE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9458325" y="5815533"/>
            <a:ext cx="8064437" cy="558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138"/>
              </a:lnSpc>
              <a:buNone/>
            </a:pPr>
            <a:r>
              <a:rPr lang="en-US" sz="1575" b="1" dirty="0">
                <a:solidFill>
                  <a:srgbClr val="00334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Metric change: </a:t>
            </a:r>
            <a:pPr algn="l" indent="0" marL="0">
              <a:lnSpc>
                <a:spcPct val="94138"/>
              </a:lnSpc>
              <a:buNone/>
            </a:pPr>
            <a:r>
              <a:rPr lang="en-US" sz="1575" dirty="0">
                <a:solidFill>
                  <a:srgbClr val="00334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update the metrics doc and its test in the same change; show before and after for the latest period.</a:t>
            </a:r>
            <a:endParaRPr lang="en-US" sz="1575" dirty="0"/>
          </a:p>
        </p:txBody>
      </p:sp>
      <p:sp>
        <p:nvSpPr>
          <p:cNvPr id="33" name="Text 31"/>
          <p:cNvSpPr/>
          <p:nvPr/>
        </p:nvSpPr>
        <p:spPr>
          <a:xfrm>
            <a:off x="9458325" y="6392689"/>
            <a:ext cx="8612505" cy="2981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138"/>
              </a:lnSpc>
              <a:buNone/>
            </a:pPr>
            <a:r>
              <a:rPr lang="en-US" sz="1575" b="1" dirty="0">
                <a:solidFill>
                  <a:srgbClr val="00334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New page or restyle: </a:t>
            </a:r>
            <a:pPr algn="l" indent="0" marL="0">
              <a:lnSpc>
                <a:spcPct val="94138"/>
              </a:lnSpc>
              <a:buNone/>
            </a:pPr>
            <a:r>
              <a:rPr lang="en-US" sz="1575" dirty="0">
                <a:solidFill>
                  <a:srgbClr val="00334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use the design system rules; no framework, no build step.</a:t>
            </a:r>
            <a:endParaRPr lang="en-US" sz="1575" dirty="0"/>
          </a:p>
        </p:txBody>
      </p:sp>
      <p:sp>
        <p:nvSpPr>
          <p:cNvPr id="34" name="Text 32"/>
          <p:cNvSpPr/>
          <p:nvPr/>
        </p:nvSpPr>
        <p:spPr>
          <a:xfrm>
            <a:off x="9458325" y="6709842"/>
            <a:ext cx="8064437" cy="558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138"/>
              </a:lnSpc>
              <a:buNone/>
            </a:pPr>
            <a:r>
              <a:rPr lang="en-US" sz="1575" b="1" dirty="0">
                <a:solidFill>
                  <a:srgbClr val="00334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Endpoint or field mapping: </a:t>
            </a:r>
            <a:pPr algn="l" indent="0" marL="0">
              <a:lnSpc>
                <a:spcPct val="94138"/>
              </a:lnSpc>
              <a:buNone/>
            </a:pPr>
            <a:r>
              <a:rPr lang="en-US" sz="1575" dirty="0">
                <a:solidFill>
                  <a:srgbClr val="00334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change only the adapter files; keep normalized property names stable.</a:t>
            </a:r>
            <a:endParaRPr lang="en-US" sz="1575" dirty="0"/>
          </a:p>
        </p:txBody>
      </p:sp>
      <p:sp>
        <p:nvSpPr>
          <p:cNvPr id="35" name="Text 33"/>
          <p:cNvSpPr/>
          <p:nvPr/>
        </p:nvSpPr>
        <p:spPr>
          <a:xfrm>
            <a:off x="9458325" y="7286997"/>
            <a:ext cx="8612505" cy="2981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138"/>
              </a:lnSpc>
              <a:buNone/>
            </a:pPr>
            <a:r>
              <a:rPr lang="en-US" sz="1575" b="1" dirty="0">
                <a:solidFill>
                  <a:srgbClr val="00334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Shared adapter: </a:t>
            </a:r>
            <a:pPr algn="l" indent="0" marL="0">
              <a:lnSpc>
                <a:spcPct val="94138"/>
              </a:lnSpc>
              <a:buNone/>
            </a:pPr>
            <a:r>
              <a:rPr lang="en-US" sz="1575" dirty="0">
                <a:solidFill>
                  <a:srgbClr val="00334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move every importer's </a:t>
            </a:r>
            <a:pPr algn="l" indent="0" marL="0">
              <a:lnSpc>
                <a:spcPct val="94138"/>
              </a:lnSpc>
              <a:buNone/>
            </a:pPr>
            <a:r>
              <a:rPr lang="en-US" sz="1575" b="1" dirty="0">
                <a:solidFill>
                  <a:srgbClr val="00334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?v= </a:t>
            </a:r>
            <a:pPr algn="l" indent="0" marL="0">
              <a:lnSpc>
                <a:spcPct val="94138"/>
              </a:lnSpc>
              <a:buNone/>
            </a:pPr>
            <a:r>
              <a:rPr lang="en-US" sz="1575" dirty="0">
                <a:solidFill>
                  <a:srgbClr val="00334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version together.</a:t>
            </a:r>
            <a:endParaRPr lang="en-US" sz="1575" dirty="0"/>
          </a:p>
        </p:txBody>
      </p:sp>
      <p:sp>
        <p:nvSpPr>
          <p:cNvPr id="36" name="Shape 34"/>
          <p:cNvSpPr/>
          <p:nvPr/>
        </p:nvSpPr>
        <p:spPr>
          <a:xfrm>
            <a:off x="762000" y="8791575"/>
            <a:ext cx="16764000" cy="904875"/>
          </a:xfrm>
          <a:prstGeom prst="roundRect">
            <a:avLst>
              <a:gd name="adj" fmla="val 16842"/>
            </a:avLst>
          </a:prstGeom>
          <a:solidFill>
            <a:srgbClr val="00334F"/>
          </a:solidFill>
          <a:ln/>
        </p:spPr>
      </p:sp>
      <p:sp>
        <p:nvSpPr>
          <p:cNvPr id="37" name="Text 35"/>
          <p:cNvSpPr/>
          <p:nvPr/>
        </p:nvSpPr>
        <p:spPr>
          <a:xfrm>
            <a:off x="1028700" y="9113044"/>
            <a:ext cx="261921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50" kern="0" dirty="0">
                <a:solidFill>
                  <a:srgbClr val="9FE0F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FOUR FAILURE MODES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3733651" y="8943975"/>
            <a:ext cx="1709365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DFF1F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Denominator drift</a:t>
            </a:r>
            <a:endParaRPr lang="en-US" sz="1725" dirty="0"/>
          </a:p>
        </p:txBody>
      </p:sp>
      <p:sp>
        <p:nvSpPr>
          <p:cNvPr id="39" name="Text 37"/>
          <p:cNvSpPr/>
          <p:nvPr/>
        </p:nvSpPr>
        <p:spPr>
          <a:xfrm>
            <a:off x="5690667" y="9093994"/>
            <a:ext cx="131713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DFF1F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·</a:t>
            </a:r>
            <a:endParaRPr lang="en-US" sz="1725" dirty="0"/>
          </a:p>
        </p:txBody>
      </p:sp>
      <p:sp>
        <p:nvSpPr>
          <p:cNvPr id="40" name="Text 38"/>
          <p:cNvSpPr/>
          <p:nvPr/>
        </p:nvSpPr>
        <p:spPr>
          <a:xfrm>
            <a:off x="6070029" y="8943975"/>
            <a:ext cx="2769314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DFF1F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Stale cache-busting versions</a:t>
            </a:r>
            <a:endParaRPr lang="en-US" sz="1725" dirty="0"/>
          </a:p>
        </p:txBody>
      </p:sp>
      <p:sp>
        <p:nvSpPr>
          <p:cNvPr id="41" name="Text 39"/>
          <p:cNvSpPr/>
          <p:nvPr/>
        </p:nvSpPr>
        <p:spPr>
          <a:xfrm>
            <a:off x="9082534" y="9093994"/>
            <a:ext cx="131713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DFF1F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·</a:t>
            </a:r>
            <a:endParaRPr lang="en-US" sz="1725" dirty="0"/>
          </a:p>
        </p:txBody>
      </p:sp>
      <p:sp>
        <p:nvSpPr>
          <p:cNvPr id="42" name="Text 40"/>
          <p:cNvSpPr/>
          <p:nvPr/>
        </p:nvSpPr>
        <p:spPr>
          <a:xfrm>
            <a:off x="9461897" y="8943975"/>
            <a:ext cx="4059428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DFF1F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Hardcoded endpoints outside the adapters</a:t>
            </a:r>
            <a:endParaRPr lang="en-US" sz="1725" dirty="0"/>
          </a:p>
        </p:txBody>
      </p:sp>
      <p:sp>
        <p:nvSpPr>
          <p:cNvPr id="43" name="Text 41"/>
          <p:cNvSpPr/>
          <p:nvPr/>
        </p:nvSpPr>
        <p:spPr>
          <a:xfrm>
            <a:off x="13726939" y="9093994"/>
            <a:ext cx="131713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DFF1F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·</a:t>
            </a:r>
            <a:endParaRPr lang="en-US" sz="1725" dirty="0"/>
          </a:p>
        </p:txBody>
      </p:sp>
      <p:sp>
        <p:nvSpPr>
          <p:cNvPr id="44" name="Text 42"/>
          <p:cNvSpPr/>
          <p:nvPr/>
        </p:nvSpPr>
        <p:spPr>
          <a:xfrm>
            <a:off x="14106302" y="8943975"/>
            <a:ext cx="3247588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DFF1F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Hand-editing docs/landcare/data/</a:t>
            </a:r>
            <a:endParaRPr lang="en-US" sz="17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90550"/>
            <a:ext cx="1029905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198" kern="0" dirty="0">
                <a:solidFill>
                  <a:srgbClr val="006C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04 · DESIGN SYSTEM USAGE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762000" y="952500"/>
            <a:ext cx="10299055" cy="582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4667"/>
              </a:lnSpc>
              <a:buNone/>
            </a:pPr>
            <a:r>
              <a:rPr lang="en-US" sz="4200" b="1" spc="-126" kern="0" dirty="0">
                <a:solidFill>
                  <a:srgbClr val="00334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Reusable Style for future GIS Web App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13778447" y="879351"/>
            <a:ext cx="3747553" cy="65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99692"/>
              </a:lnSpc>
              <a:buNone/>
            </a:pPr>
            <a:r>
              <a:rPr lang="en-US" sz="1800" b="1" dirty="0">
                <a:solidFill>
                  <a:srgbClr val="5B738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Manrope only · four hues plus ink, muted, and line neutrals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62000" y="1706091"/>
            <a:ext cx="8970913" cy="7331348"/>
          </a:xfrm>
          <a:prstGeom prst="roundRect">
            <a:avLst>
              <a:gd name="adj" fmla="val 2339"/>
            </a:avLst>
          </a:prstGeom>
          <a:solidFill>
            <a:srgbClr val="F7FAFC"/>
          </a:solidFill>
          <a:ln w="9525">
            <a:solidFill>
              <a:srgbClr val="E2EAE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-37025"/>
          <a:stretch/>
        </p:blipFill>
        <p:spPr>
          <a:xfrm>
            <a:off x="771525" y="1715616"/>
            <a:ext cx="8951863" cy="731229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62000" y="9151739"/>
            <a:ext cx="9240040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333"/>
              </a:lnSpc>
              <a:buNone/>
            </a:pPr>
            <a:r>
              <a:rPr lang="en-US" sz="1650" b="1" dirty="0">
                <a:solidFill>
                  <a:srgbClr val="5B738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Map Monitor, live · fixed blue header, pill filters, hairline cards, and status colours always paired with a label.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9923413" y="1706091"/>
            <a:ext cx="3734619" cy="1548557"/>
          </a:xfrm>
          <a:prstGeom prst="roundRect">
            <a:avLst>
              <a:gd name="adj" fmla="val 9841"/>
            </a:avLst>
          </a:prstGeom>
          <a:solidFill>
            <a:srgbClr val="F7FAFC"/>
          </a:solidFill>
          <a:ln w="9525">
            <a:solidFill>
              <a:srgbClr val="E2EA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142488" y="1887066"/>
            <a:ext cx="362611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20" kern="0" dirty="0">
                <a:solidFill>
                  <a:srgbClr val="006C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APP.CSS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142488" y="2206154"/>
            <a:ext cx="3395363" cy="9056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381"/>
              </a:lnSpc>
              <a:buNone/>
            </a:pPr>
            <a:r>
              <a:rPr lang="en-US" sz="1725" dirty="0">
                <a:solidFill>
                  <a:srgbClr val="00334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~2,800 lines, coupled to the ArcGIS theme. </a:t>
            </a:r>
            <a:pPr algn="l" indent="0" marL="0">
              <a:lnSpc>
                <a:spcPct val="96381"/>
              </a:lnSpc>
              <a:buNone/>
            </a:pPr>
            <a:r>
              <a:rPr lang="en-US" sz="1725" b="1" dirty="0">
                <a:solidFill>
                  <a:srgbClr val="00334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Edit to change an existing page.</a:t>
            </a:r>
            <a:endParaRPr lang="en-US" sz="1725" dirty="0"/>
          </a:p>
        </p:txBody>
      </p:sp>
      <p:sp>
        <p:nvSpPr>
          <p:cNvPr id="11" name="Shape 8"/>
          <p:cNvSpPr/>
          <p:nvPr/>
        </p:nvSpPr>
        <p:spPr>
          <a:xfrm>
            <a:off x="13791381" y="1706091"/>
            <a:ext cx="3734619" cy="1548557"/>
          </a:xfrm>
          <a:prstGeom prst="roundRect">
            <a:avLst>
              <a:gd name="adj" fmla="val 9841"/>
            </a:avLst>
          </a:prstGeom>
          <a:solidFill>
            <a:srgbClr val="EEF8FB"/>
          </a:solidFill>
          <a:ln w="9525">
            <a:solidFill>
              <a:srgbClr val="BFE0E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4010456" y="1887066"/>
            <a:ext cx="362611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20" kern="0" dirty="0">
                <a:solidFill>
                  <a:srgbClr val="006C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EXECUTIVE-BI.CSS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4010456" y="2206154"/>
            <a:ext cx="3395363" cy="9056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381"/>
              </a:lnSpc>
              <a:buNone/>
            </a:pPr>
            <a:r>
              <a:rPr lang="en-US" sz="1725" dirty="0">
                <a:solidFill>
                  <a:srgbClr val="00334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156 portable lines. </a:t>
            </a:r>
            <a:pPr algn="l" indent="0" marL="0">
              <a:lnSpc>
                <a:spcPct val="96381"/>
              </a:lnSpc>
              <a:buNone/>
            </a:pPr>
            <a:r>
              <a:rPr lang="en-US" sz="1725" b="1" dirty="0">
                <a:solidFill>
                  <a:srgbClr val="00334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Copy to start a new dashboard </a:t>
            </a:r>
            <a:pPr algn="l" indent="0" marL="0">
              <a:lnSpc>
                <a:spcPct val="96381"/>
              </a:lnSpc>
              <a:buNone/>
            </a:pPr>
            <a:r>
              <a:rPr lang="en-US" sz="1725" dirty="0">
                <a:solidFill>
                  <a:srgbClr val="00334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, with design-system/example.html.</a:t>
            </a:r>
            <a:endParaRPr lang="en-US" sz="1725" dirty="0"/>
          </a:p>
        </p:txBody>
      </p:sp>
      <p:sp>
        <p:nvSpPr>
          <p:cNvPr id="14" name="Shape 11"/>
          <p:cNvSpPr/>
          <p:nvPr/>
        </p:nvSpPr>
        <p:spPr>
          <a:xfrm>
            <a:off x="9923413" y="3407048"/>
            <a:ext cx="7602587" cy="3250109"/>
          </a:xfrm>
          <a:prstGeom prst="roundRect">
            <a:avLst>
              <a:gd name="adj" fmla="val 5275"/>
            </a:avLst>
          </a:prstGeom>
          <a:solidFill>
            <a:srgbClr val="FFFFFF"/>
          </a:solidFill>
          <a:ln w="9525">
            <a:solidFill>
              <a:srgbClr val="E2EAE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161538" y="3607073"/>
            <a:ext cx="783897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50" kern="0" dirty="0">
                <a:solidFill>
                  <a:srgbClr val="006C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TOKENS OVER COMPONENTS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10161538" y="3983310"/>
            <a:ext cx="381000" cy="381000"/>
          </a:xfrm>
          <a:prstGeom prst="roundRect">
            <a:avLst>
              <a:gd name="adj" fmla="val 30000"/>
            </a:avLst>
          </a:prstGeom>
          <a:solidFill>
            <a:srgbClr val="006C9F"/>
          </a:solidFill>
          <a:ln/>
        </p:spPr>
      </p:sp>
      <p:sp>
        <p:nvSpPr>
          <p:cNvPr id="17" name="Text 14"/>
          <p:cNvSpPr/>
          <p:nvPr/>
        </p:nvSpPr>
        <p:spPr>
          <a:xfrm>
            <a:off x="10675888" y="4023792"/>
            <a:ext cx="5432338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00334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--bi-primary #006c9f · analysis, active controls</a:t>
            </a:r>
            <a:endParaRPr lang="en-US" sz="1725" dirty="0"/>
          </a:p>
        </p:txBody>
      </p:sp>
      <p:sp>
        <p:nvSpPr>
          <p:cNvPr id="18" name="Shape 15"/>
          <p:cNvSpPr/>
          <p:nvPr/>
        </p:nvSpPr>
        <p:spPr>
          <a:xfrm>
            <a:off x="10161538" y="4450035"/>
            <a:ext cx="381000" cy="381000"/>
          </a:xfrm>
          <a:prstGeom prst="roundRect">
            <a:avLst>
              <a:gd name="adj" fmla="val 30000"/>
            </a:avLst>
          </a:prstGeom>
          <a:solidFill>
            <a:srgbClr val="00334F"/>
          </a:solidFill>
          <a:ln/>
        </p:spPr>
      </p:sp>
      <p:sp>
        <p:nvSpPr>
          <p:cNvPr id="19" name="Text 16"/>
          <p:cNvSpPr/>
          <p:nvPr/>
        </p:nvSpPr>
        <p:spPr>
          <a:xfrm>
            <a:off x="10675888" y="4490517"/>
            <a:ext cx="572202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00334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--bi-deep #00334f · headings, authoritative detail</a:t>
            </a:r>
            <a:endParaRPr lang="en-US" sz="1725" dirty="0"/>
          </a:p>
        </p:txBody>
      </p:sp>
      <p:sp>
        <p:nvSpPr>
          <p:cNvPr id="20" name="Shape 17"/>
          <p:cNvSpPr/>
          <p:nvPr/>
        </p:nvSpPr>
        <p:spPr>
          <a:xfrm>
            <a:off x="10161538" y="4916760"/>
            <a:ext cx="381000" cy="381000"/>
          </a:xfrm>
          <a:prstGeom prst="roundRect">
            <a:avLst>
              <a:gd name="adj" fmla="val 30000"/>
            </a:avLst>
          </a:prstGeom>
          <a:solidFill>
            <a:srgbClr val="C2410C"/>
          </a:solidFill>
          <a:ln/>
        </p:spPr>
      </p:sp>
      <p:sp>
        <p:nvSpPr>
          <p:cNvPr id="21" name="Text 18"/>
          <p:cNvSpPr/>
          <p:nvPr/>
        </p:nvSpPr>
        <p:spPr>
          <a:xfrm>
            <a:off x="10675888" y="4957242"/>
            <a:ext cx="4632201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00334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--bi-risk #c2410c · action, risk, follow-up</a:t>
            </a:r>
            <a:endParaRPr lang="en-US" sz="1725" dirty="0"/>
          </a:p>
        </p:txBody>
      </p:sp>
      <p:sp>
        <p:nvSpPr>
          <p:cNvPr id="22" name="Shape 19"/>
          <p:cNvSpPr/>
          <p:nvPr/>
        </p:nvSpPr>
        <p:spPr>
          <a:xfrm>
            <a:off x="10161538" y="5383485"/>
            <a:ext cx="381000" cy="381000"/>
          </a:xfrm>
          <a:prstGeom prst="roundRect">
            <a:avLst>
              <a:gd name="adj" fmla="val 30000"/>
            </a:avLst>
          </a:prstGeom>
          <a:solidFill>
            <a:srgbClr val="2E7D32"/>
          </a:solidFill>
          <a:ln/>
        </p:spPr>
      </p:sp>
      <p:sp>
        <p:nvSpPr>
          <p:cNvPr id="23" name="Text 20"/>
          <p:cNvSpPr/>
          <p:nvPr/>
        </p:nvSpPr>
        <p:spPr>
          <a:xfrm>
            <a:off x="10675888" y="5423967"/>
            <a:ext cx="5474084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00334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--bi-success #2e7d32 · target, complete, stable</a:t>
            </a:r>
            <a:endParaRPr lang="en-US" sz="1725" dirty="0"/>
          </a:p>
        </p:txBody>
      </p:sp>
      <p:sp>
        <p:nvSpPr>
          <p:cNvPr id="24" name="Text 21"/>
          <p:cNvSpPr/>
          <p:nvPr/>
        </p:nvSpPr>
        <p:spPr>
          <a:xfrm>
            <a:off x="10161538" y="5878785"/>
            <a:ext cx="7340127" cy="6164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381"/>
              </a:lnSpc>
              <a:buNone/>
            </a:pPr>
            <a:r>
              <a:rPr lang="en-US" sz="1725" b="1" dirty="0">
                <a:solidFill>
                  <a:srgbClr val="3556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Override the variables at .bi-dashboard level </a:t>
            </a:r>
            <a:pPr algn="l" indent="0" marL="0">
              <a:lnSpc>
                <a:spcPct val="96381"/>
              </a:lnSpc>
              <a:buNone/>
            </a:pPr>
            <a:r>
              <a:rPr lang="en-US" sz="1725" dirty="0">
                <a:solidFill>
                  <a:srgbClr val="3556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rather than restyling a component.</a:t>
            </a:r>
            <a:endParaRPr lang="en-US" sz="1725" dirty="0"/>
          </a:p>
        </p:txBody>
      </p:sp>
      <p:sp>
        <p:nvSpPr>
          <p:cNvPr id="25" name="Shape 22"/>
          <p:cNvSpPr/>
          <p:nvPr/>
        </p:nvSpPr>
        <p:spPr>
          <a:xfrm>
            <a:off x="9923413" y="6809556"/>
            <a:ext cx="7602587" cy="2886894"/>
          </a:xfrm>
          <a:prstGeom prst="roundRect">
            <a:avLst>
              <a:gd name="adj" fmla="val 5939"/>
            </a:avLst>
          </a:prstGeom>
          <a:solidFill>
            <a:srgbClr val="FFFFFF"/>
          </a:solidFill>
          <a:ln/>
        </p:spPr>
      </p:sp>
      <p:sp>
        <p:nvSpPr>
          <p:cNvPr id="26" name="Shape 23"/>
          <p:cNvSpPr/>
          <p:nvPr/>
        </p:nvSpPr>
        <p:spPr>
          <a:xfrm>
            <a:off x="9923413" y="9686925"/>
            <a:ext cx="7602587" cy="9525"/>
          </a:xfrm>
          <a:prstGeom prst="rect">
            <a:avLst/>
          </a:prstGeom>
          <a:solidFill>
            <a:srgbClr val="E2EAEF"/>
          </a:solidFill>
          <a:ln/>
        </p:spPr>
      </p:sp>
      <p:sp>
        <p:nvSpPr>
          <p:cNvPr id="27" name="Shape 24"/>
          <p:cNvSpPr/>
          <p:nvPr/>
        </p:nvSpPr>
        <p:spPr>
          <a:xfrm>
            <a:off x="9923413" y="6809556"/>
            <a:ext cx="7602587" cy="9525"/>
          </a:xfrm>
          <a:prstGeom prst="rect">
            <a:avLst/>
          </a:prstGeom>
          <a:solidFill>
            <a:srgbClr val="E2EAEF"/>
          </a:solidFill>
          <a:ln/>
        </p:spPr>
      </p:sp>
      <p:sp>
        <p:nvSpPr>
          <p:cNvPr id="28" name="Shape 25"/>
          <p:cNvSpPr/>
          <p:nvPr/>
        </p:nvSpPr>
        <p:spPr>
          <a:xfrm>
            <a:off x="9923413" y="6809556"/>
            <a:ext cx="38100" cy="2886894"/>
          </a:xfrm>
          <a:prstGeom prst="rect">
            <a:avLst/>
          </a:prstGeom>
          <a:solidFill>
            <a:srgbClr val="00334F"/>
          </a:solidFill>
          <a:ln/>
        </p:spPr>
      </p:sp>
      <p:sp>
        <p:nvSpPr>
          <p:cNvPr id="29" name="Shape 26"/>
          <p:cNvSpPr/>
          <p:nvPr/>
        </p:nvSpPr>
        <p:spPr>
          <a:xfrm>
            <a:off x="17516475" y="6809556"/>
            <a:ext cx="9525" cy="2886894"/>
          </a:xfrm>
          <a:prstGeom prst="rect">
            <a:avLst/>
          </a:prstGeom>
          <a:solidFill>
            <a:srgbClr val="E2EAEF"/>
          </a:solidFill>
          <a:ln/>
        </p:spPr>
      </p:sp>
      <p:sp>
        <p:nvSpPr>
          <p:cNvPr id="30" name="Text 27"/>
          <p:cNvSpPr/>
          <p:nvPr/>
        </p:nvSpPr>
        <p:spPr>
          <a:xfrm>
            <a:off x="10190113" y="6990531"/>
            <a:ext cx="7807538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50" kern="0" dirty="0">
                <a:solidFill>
                  <a:srgbClr val="006C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FIXED PAGE ORDER</a:t>
            </a:r>
            <a:endParaRPr lang="en-US" sz="1500" dirty="0"/>
          </a:p>
        </p:txBody>
      </p:sp>
      <p:sp>
        <p:nvSpPr>
          <p:cNvPr id="31" name="Shape 28"/>
          <p:cNvSpPr/>
          <p:nvPr/>
        </p:nvSpPr>
        <p:spPr>
          <a:xfrm>
            <a:off x="10190113" y="7347719"/>
            <a:ext cx="1318245" cy="428625"/>
          </a:xfrm>
          <a:prstGeom prst="roundRect">
            <a:avLst>
              <a:gd name="adj" fmla="val 50000"/>
            </a:avLst>
          </a:prstGeom>
          <a:ln w="19050">
            <a:solidFill>
              <a:srgbClr val="0098D3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0361563" y="7423919"/>
            <a:ext cx="105154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006C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Masthead</a:t>
            </a:r>
            <a:endParaRPr lang="en-US" sz="1575" dirty="0"/>
          </a:p>
        </p:txBody>
      </p:sp>
      <p:sp>
        <p:nvSpPr>
          <p:cNvPr id="33" name="Shape 30"/>
          <p:cNvSpPr/>
          <p:nvPr/>
        </p:nvSpPr>
        <p:spPr>
          <a:xfrm>
            <a:off x="11584558" y="7347719"/>
            <a:ext cx="798761" cy="428625"/>
          </a:xfrm>
          <a:prstGeom prst="roundRect">
            <a:avLst>
              <a:gd name="adj" fmla="val 50000"/>
            </a:avLst>
          </a:prstGeom>
          <a:ln w="19050">
            <a:solidFill>
              <a:srgbClr val="0098D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1756008" y="7423919"/>
            <a:ext cx="53206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006C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Tabs</a:t>
            </a:r>
            <a:endParaRPr lang="en-US" sz="1575" dirty="0"/>
          </a:p>
        </p:txBody>
      </p:sp>
      <p:sp>
        <p:nvSpPr>
          <p:cNvPr id="35" name="Shape 32"/>
          <p:cNvSpPr/>
          <p:nvPr/>
        </p:nvSpPr>
        <p:spPr>
          <a:xfrm>
            <a:off x="12459519" y="7347719"/>
            <a:ext cx="1931566" cy="428625"/>
          </a:xfrm>
          <a:prstGeom prst="roundRect">
            <a:avLst>
              <a:gd name="adj" fmla="val 50000"/>
            </a:avLst>
          </a:prstGeom>
          <a:ln w="19050">
            <a:solidFill>
              <a:srgbClr val="0098D3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12630969" y="7423919"/>
            <a:ext cx="166486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006C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Context + filters</a:t>
            </a:r>
            <a:endParaRPr lang="en-US" sz="1575" dirty="0"/>
          </a:p>
        </p:txBody>
      </p:sp>
      <p:sp>
        <p:nvSpPr>
          <p:cNvPr id="37" name="Shape 34"/>
          <p:cNvSpPr/>
          <p:nvPr/>
        </p:nvSpPr>
        <p:spPr>
          <a:xfrm>
            <a:off x="14467284" y="7347719"/>
            <a:ext cx="2124596" cy="428625"/>
          </a:xfrm>
          <a:prstGeom prst="roundRect">
            <a:avLst>
              <a:gd name="adj" fmla="val 50000"/>
            </a:avLst>
          </a:prstGeom>
          <a:ln w="19050">
            <a:solidFill>
              <a:srgbClr val="0098D3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14638734" y="7423919"/>
            <a:ext cx="185789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006C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Decision question</a:t>
            </a:r>
            <a:endParaRPr lang="en-US" sz="1575" dirty="0"/>
          </a:p>
        </p:txBody>
      </p:sp>
      <p:sp>
        <p:nvSpPr>
          <p:cNvPr id="39" name="Shape 36"/>
          <p:cNvSpPr/>
          <p:nvPr/>
        </p:nvSpPr>
        <p:spPr>
          <a:xfrm>
            <a:off x="10190113" y="7852544"/>
            <a:ext cx="1486272" cy="428625"/>
          </a:xfrm>
          <a:prstGeom prst="roundRect">
            <a:avLst>
              <a:gd name="adj" fmla="val 50000"/>
            </a:avLst>
          </a:prstGeom>
          <a:ln w="19050">
            <a:solidFill>
              <a:srgbClr val="0098D3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0361563" y="7928744"/>
            <a:ext cx="121957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006C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3–5 metrics</a:t>
            </a:r>
            <a:endParaRPr lang="en-US" sz="1575" dirty="0"/>
          </a:p>
        </p:txBody>
      </p:sp>
      <p:sp>
        <p:nvSpPr>
          <p:cNvPr id="41" name="Shape 38"/>
          <p:cNvSpPr/>
          <p:nvPr/>
        </p:nvSpPr>
        <p:spPr>
          <a:xfrm>
            <a:off x="11752585" y="7852544"/>
            <a:ext cx="2596828" cy="428625"/>
          </a:xfrm>
          <a:prstGeom prst="roundRect">
            <a:avLst>
              <a:gd name="adj" fmla="val 50000"/>
            </a:avLst>
          </a:prstGeom>
          <a:ln w="19050">
            <a:solidFill>
              <a:srgbClr val="0098D3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11924035" y="7928744"/>
            <a:ext cx="233183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006C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Dominant map or chart</a:t>
            </a:r>
            <a:endParaRPr lang="en-US" sz="1575" dirty="0"/>
          </a:p>
        </p:txBody>
      </p:sp>
      <p:sp>
        <p:nvSpPr>
          <p:cNvPr id="43" name="Shape 40"/>
          <p:cNvSpPr/>
          <p:nvPr/>
        </p:nvSpPr>
        <p:spPr>
          <a:xfrm>
            <a:off x="14425613" y="7852544"/>
            <a:ext cx="2189187" cy="428625"/>
          </a:xfrm>
          <a:prstGeom prst="roundRect">
            <a:avLst>
              <a:gd name="adj" fmla="val 50000"/>
            </a:avLst>
          </a:prstGeom>
          <a:ln w="19050">
            <a:solidFill>
              <a:srgbClr val="0098D3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4597063" y="7928744"/>
            <a:ext cx="192248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006C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Operational ledger</a:t>
            </a:r>
            <a:endParaRPr lang="en-US" sz="1575" dirty="0"/>
          </a:p>
        </p:txBody>
      </p:sp>
      <p:sp>
        <p:nvSpPr>
          <p:cNvPr id="45" name="Text 42"/>
          <p:cNvSpPr/>
          <p:nvPr/>
        </p:nvSpPr>
        <p:spPr>
          <a:xfrm>
            <a:off x="10190113" y="8376419"/>
            <a:ext cx="7310695" cy="8551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333"/>
              </a:lnSpc>
              <a:buNone/>
            </a:pPr>
            <a:r>
              <a:rPr lang="en-US" sz="1650" b="1" dirty="0">
                <a:solidFill>
                  <a:srgbClr val="3556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Checked in review: </a:t>
            </a:r>
            <a:pPr algn="l" indent="0" marL="0">
              <a:lnSpc>
                <a:spcPct val="95333"/>
              </a:lnSpc>
              <a:buNone/>
            </a:pPr>
            <a:r>
              <a:rPr lang="en-US" sz="1650" dirty="0">
                <a:solidFill>
                  <a:srgbClr val="3556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colour always paired with a label; every number shows source, period, denominator, freshness; contrast ≥ 4.5:1; explicit loading, empty, stale, error states.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3900" y="571500"/>
            <a:ext cx="1186683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198" kern="0" dirty="0">
                <a:solidFill>
                  <a:srgbClr val="006C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05 · REPLACING REGRID, STAYING GROUNDED IN ARCGIS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723900" y="933450"/>
            <a:ext cx="11866833" cy="582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4667"/>
              </a:lnSpc>
              <a:buNone/>
            </a:pPr>
            <a:r>
              <a:rPr lang="en-US" sz="4200" b="1" spc="-126" kern="0" dirty="0">
                <a:solidFill>
                  <a:srgbClr val="00334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scope is one intake form and one export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2188800" y="622176"/>
            <a:ext cx="5375300" cy="855315"/>
          </a:xfrm>
          <a:prstGeom prst="roundRect">
            <a:avLst>
              <a:gd name="adj" fmla="val 17818"/>
            </a:avLst>
          </a:prstGeom>
          <a:solidFill>
            <a:srgbClr val="FFFFFF"/>
          </a:solidFill>
          <a:ln w="9525">
            <a:solidFill>
              <a:srgbClr val="E2EA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246616" y="765051"/>
            <a:ext cx="5098409" cy="607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94921"/>
              </a:lnSpc>
              <a:buNone/>
            </a:pPr>
            <a:r>
              <a:rPr lang="en-US" sz="1725" b="1" dirty="0">
                <a:solidFill>
                  <a:srgbClr val="35566B"/>
                </a:solidFill>
                <a:highlight>
                  <a:srgbClr val="FFFFFF"/>
                </a:highlight>
                <a:latin typeface="Manrope" pitchFamily="34" charset="0"/>
                <a:ea typeface="Manrope" pitchFamily="34" charset="-122"/>
                <a:cs typeface="Manrope" pitchFamily="34" charset="-120"/>
              </a:rPr>
              <a:t>Assignments, parcel geometry, ownership, dashboard and portal are already URA property</a:t>
            </a:r>
            <a:endParaRPr lang="en-US" sz="1725" dirty="0"/>
          </a:p>
        </p:txBody>
      </p:sp>
      <p:sp>
        <p:nvSpPr>
          <p:cNvPr id="6" name="Shape 4"/>
          <p:cNvSpPr/>
          <p:nvPr/>
        </p:nvSpPr>
        <p:spPr>
          <a:xfrm>
            <a:off x="723900" y="1667991"/>
            <a:ext cx="16840200" cy="5732934"/>
          </a:xfrm>
          <a:prstGeom prst="roundRect">
            <a:avLst>
              <a:gd name="adj" fmla="val 2991"/>
            </a:avLst>
          </a:prstGeom>
          <a:solidFill>
            <a:srgbClr val="FFFFFF"/>
          </a:solidFill>
          <a:ln w="9525">
            <a:solidFill>
              <a:srgbClr val="E2EAE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-35121" r="-35121" t="0" b="0"/>
          <a:stretch/>
        </p:blipFill>
        <p:spPr>
          <a:xfrm>
            <a:off x="847725" y="1791816"/>
            <a:ext cx="16592550" cy="548528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23900" y="7591425"/>
            <a:ext cx="5457825" cy="2124075"/>
          </a:xfrm>
          <a:prstGeom prst="roundRect">
            <a:avLst>
              <a:gd name="adj" fmla="val 7175"/>
            </a:avLst>
          </a:prstGeom>
          <a:solidFill>
            <a:srgbClr val="FFFFFF"/>
          </a:solidFill>
          <a:ln w="9525">
            <a:solidFill>
              <a:srgbClr val="E2EA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62025" y="7772400"/>
            <a:ext cx="547973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114" kern="0" dirty="0">
                <a:solidFill>
                  <a:srgbClr val="00334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STILL GROUNDED IN ARCGIS</a:t>
            </a:r>
            <a:endParaRPr lang="en-US" sz="1425" dirty="0"/>
          </a:p>
        </p:txBody>
      </p:sp>
      <p:sp>
        <p:nvSpPr>
          <p:cNvPr id="10" name="Text 7"/>
          <p:cNvSpPr/>
          <p:nvPr/>
        </p:nvSpPr>
        <p:spPr>
          <a:xfrm>
            <a:off x="962025" y="8086725"/>
            <a:ext cx="5131022" cy="1194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381"/>
              </a:lnSpc>
              <a:buNone/>
            </a:pPr>
            <a:r>
              <a:rPr lang="en-US" sz="1725" dirty="0">
                <a:solidFill>
                  <a:srgbClr val="00334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Parcels, assignments, and evidence stay </a:t>
            </a:r>
            <a:pPr algn="l" indent="0" marL="0">
              <a:lnSpc>
                <a:spcPct val="96381"/>
              </a:lnSpc>
              <a:buNone/>
            </a:pPr>
            <a:r>
              <a:rPr lang="en-US" sz="1725" b="1" dirty="0">
                <a:solidFill>
                  <a:srgbClr val="00334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hosted feature layers </a:t>
            </a:r>
            <a:pPr algn="l" indent="0" marL="0">
              <a:lnSpc>
                <a:spcPct val="96381"/>
              </a:lnSpc>
              <a:buNone/>
            </a:pPr>
            <a:r>
              <a:rPr lang="en-US" sz="1725" dirty="0">
                <a:solidFill>
                  <a:srgbClr val="00334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, queried live at page load. </a:t>
            </a:r>
            <a:pPr algn="l" indent="0" marL="0">
              <a:lnSpc>
                <a:spcPct val="96381"/>
              </a:lnSpc>
              <a:buNone/>
            </a:pPr>
            <a:r>
              <a:rPr lang="en-US" sz="1725" b="1" dirty="0">
                <a:solidFill>
                  <a:srgbClr val="00334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URA owns the intake; Esri carries the geometry and sharing model.</a:t>
            </a:r>
            <a:endParaRPr lang="en-US" sz="1725" dirty="0"/>
          </a:p>
        </p:txBody>
      </p:sp>
      <p:sp>
        <p:nvSpPr>
          <p:cNvPr id="11" name="Shape 8"/>
          <p:cNvSpPr/>
          <p:nvPr/>
        </p:nvSpPr>
        <p:spPr>
          <a:xfrm>
            <a:off x="6353175" y="7591425"/>
            <a:ext cx="5581650" cy="2124075"/>
          </a:xfrm>
          <a:prstGeom prst="roundRect">
            <a:avLst>
              <a:gd name="adj" fmla="val 7175"/>
            </a:avLst>
          </a:prstGeom>
          <a:solidFill>
            <a:srgbClr val="FFFFFF"/>
          </a:solidFill>
          <a:ln w="9525">
            <a:solidFill>
              <a:srgbClr val="E2EAE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91300" y="7772400"/>
            <a:ext cx="561594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114" kern="0" dirty="0">
                <a:solidFill>
                  <a:srgbClr val="2E7D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STILL IN DEVELOPMENT</a:t>
            </a:r>
            <a:endParaRPr lang="en-US" sz="1425" dirty="0"/>
          </a:p>
        </p:txBody>
      </p:sp>
      <p:sp>
        <p:nvSpPr>
          <p:cNvPr id="13" name="Text 10"/>
          <p:cNvSpPr/>
          <p:nvPr/>
        </p:nvSpPr>
        <p:spPr>
          <a:xfrm>
            <a:off x="6591300" y="8086725"/>
            <a:ext cx="5258562" cy="1483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381"/>
              </a:lnSpc>
              <a:buNone/>
            </a:pPr>
            <a:r>
              <a:rPr lang="en-US" sz="1725" b="1" dirty="0">
                <a:solidFill>
                  <a:srgbClr val="00334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Submitted surveys pipeline need to be checked. </a:t>
            </a:r>
            <a:pPr algn="l" indent="0" marL="0">
              <a:lnSpc>
                <a:spcPct val="96381"/>
              </a:lnSpc>
              <a:buNone/>
            </a:pPr>
            <a:r>
              <a:rPr lang="en-US" sz="1725" dirty="0">
                <a:solidFill>
                  <a:srgbClr val="00334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Webhook, evidence sync, and layer publisher are written but not deployed, to fully replace regrid. </a:t>
            </a:r>
            <a:pPr algn="l" indent="0" marL="0">
              <a:lnSpc>
                <a:spcPct val="96381"/>
              </a:lnSpc>
              <a:buNone/>
            </a:pPr>
            <a:r>
              <a:rPr lang="en-US" sz="1725" b="1" dirty="0">
                <a:solidFill>
                  <a:srgbClr val="00334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Deploying that path is the last step </a:t>
            </a:r>
            <a:pPr algn="l" indent="0" marL="0">
              <a:lnSpc>
                <a:spcPct val="96381"/>
              </a:lnSpc>
              <a:buNone/>
            </a:pPr>
            <a:r>
              <a:rPr lang="en-US" sz="1725" dirty="0">
                <a:solidFill>
                  <a:srgbClr val="00334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before cutover.</a:t>
            </a:r>
            <a:endParaRPr lang="en-US" sz="17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3900" y="571500"/>
            <a:ext cx="1309671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198" kern="0" dirty="0">
                <a:solidFill>
                  <a:srgbClr val="006C9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06 · OWNER OPERATING PLAYBOOK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723900" y="933450"/>
            <a:ext cx="12263284" cy="11261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4667"/>
              </a:lnSpc>
              <a:buNone/>
            </a:pPr>
            <a:r>
              <a:rPr lang="en-US" sz="4200" b="1" spc="-126" kern="0" dirty="0">
                <a:solidFill>
                  <a:srgbClr val="00334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Keep the source, the metric, and the release path stable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3011001" y="881435"/>
            <a:ext cx="4553099" cy="1140098"/>
          </a:xfrm>
          <a:prstGeom prst="roundRect">
            <a:avLst>
              <a:gd name="adj" fmla="val 13367"/>
            </a:avLst>
          </a:prstGeom>
          <a:solidFill>
            <a:srgbClr val="EEF8FB"/>
          </a:solidFill>
          <a:ln w="9525">
            <a:solidFill>
              <a:srgbClr val="BFE0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093483" y="1024310"/>
            <a:ext cx="4251542" cy="8924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94921"/>
              </a:lnSpc>
              <a:buNone/>
            </a:pPr>
            <a:r>
              <a:rPr lang="en-US" sz="1725" b="1" dirty="0">
                <a:solidFill>
                  <a:srgbClr val="006C9F"/>
                </a:solidFill>
                <a:highlight>
                  <a:srgbClr val="EEF8FB"/>
                </a:highlight>
                <a:latin typeface="Manrope" pitchFamily="34" charset="0"/>
                <a:ea typeface="Manrope" pitchFamily="34" charset="-122"/>
                <a:cs typeface="Manrope" pitchFamily="34" charset="-120"/>
              </a:rPr>
              <a:t>Cutover: HANDOVER.md Daily ops: task-scheduler-vm-operations.md</a:t>
            </a:r>
            <a:endParaRPr lang="en-US" sz="1725" dirty="0"/>
          </a:p>
        </p:txBody>
      </p:sp>
      <p:sp>
        <p:nvSpPr>
          <p:cNvPr id="6" name="Shape 4"/>
          <p:cNvSpPr/>
          <p:nvPr/>
        </p:nvSpPr>
        <p:spPr>
          <a:xfrm>
            <a:off x="723900" y="2212032"/>
            <a:ext cx="16840200" cy="5757714"/>
          </a:xfrm>
          <a:prstGeom prst="roundRect">
            <a:avLst>
              <a:gd name="adj" fmla="val 2978"/>
            </a:avLst>
          </a:prstGeom>
          <a:solidFill>
            <a:srgbClr val="F7FAFC"/>
          </a:solidFill>
          <a:ln w="9525">
            <a:solidFill>
              <a:srgbClr val="E2EAE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-34738" r="-34738" t="0" b="0"/>
          <a:stretch/>
        </p:blipFill>
        <p:spPr>
          <a:xfrm>
            <a:off x="847725" y="2335857"/>
            <a:ext cx="16592550" cy="551006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23900" y="8160246"/>
            <a:ext cx="16840200" cy="1555254"/>
          </a:xfrm>
          <a:prstGeom prst="roundRect">
            <a:avLst>
              <a:gd name="adj" fmla="val 11024"/>
            </a:avLst>
          </a:prstGeom>
          <a:solidFill>
            <a:srgbClr val="00334F"/>
          </a:solidFill>
          <a:ln/>
        </p:spPr>
      </p:sp>
      <p:sp>
        <p:nvSpPr>
          <p:cNvPr id="9" name="Text 6"/>
          <p:cNvSpPr/>
          <p:nvPr/>
        </p:nvSpPr>
        <p:spPr>
          <a:xfrm>
            <a:off x="1009650" y="8350746"/>
            <a:ext cx="1789557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50" kern="0" dirty="0">
                <a:solidFill>
                  <a:srgbClr val="9FE0F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OPEN ITEMS FOR THE NEXT OWNER TO DECIDE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09650" y="8707934"/>
            <a:ext cx="5363184" cy="8551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333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Survey123 evidence path is code-complete but not deployed. </a:t>
            </a:r>
            <a:pPr algn="l" indent="0" marL="0">
              <a:lnSpc>
                <a:spcPct val="95333"/>
              </a:lnSpc>
              <a:buNone/>
            </a:pPr>
            <a:r>
              <a:rPr lang="en-US" sz="1650" dirty="0">
                <a:solidFill>
                  <a:srgbClr val="DFF1F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single blocker on the replacement.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6540475" y="8707934"/>
            <a:ext cx="5363184" cy="8551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333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Survey123 submissions do not change official completion in v1. </a:t>
            </a:r>
            <a:pPr algn="l" indent="0" marL="0">
              <a:lnSpc>
                <a:spcPct val="95333"/>
              </a:lnSpc>
              <a:buNone/>
            </a:pPr>
            <a:r>
              <a:rPr lang="en-US" sz="1650" dirty="0">
                <a:solidFill>
                  <a:srgbClr val="DFF1F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Whether they should is a governance call.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12071300" y="8707934"/>
            <a:ext cx="5363261" cy="8551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333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Pages URLs did not follow the repository rename. </a:t>
            </a:r>
            <a:pPr algn="l" indent="0" marL="0">
              <a:lnSpc>
                <a:spcPct val="95333"/>
              </a:lnSpc>
              <a:buNone/>
            </a:pPr>
            <a:r>
              <a:rPr lang="en-US" sz="1650" dirty="0">
                <a:solidFill>
                  <a:srgbClr val="DFF1F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Move every ArcGIS embed and bookmark by hand.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2026-08-04T16:15:55Z</dcterms:created>
  <dcterms:modified xsi:type="dcterms:W3CDTF">2026-08-04T16:15:55Z</dcterms:modified>
</cp:coreProperties>
</file>